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480000" cy="17145000"/>
  <p:notesSz cx="17145000" cy="3048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ster" id="{94C601D4-E070-E8C3-ED2E-5AF8331FC35A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-3633" y="-3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1F1A24"/>
                </a:solidFill>
                <a:latin typeface="+mn-lt"/>
              </a:defRPr>
            </a:pPr>
            <a:r>
              <a:rPr lang="en-AU" sz="1800" b="0" i="0" u="none" strike="noStrike">
                <a:solidFill>
                  <a:srgbClr val="1F1A24"/>
                </a:solidFill>
                <a:latin typeface="+mn-lt"/>
              </a:rPr>
              <a:t>Test accuracy by partition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FedAvg</c:v>
                </c:pt>
              </c:strCache>
            </c:strRef>
          </c:tx>
          <c:spPr>
            <a:ln w="50800" cap="flat">
              <a:solidFill>
                <a:srgbClr val="51247A"/>
              </a:solidFill>
              <a:prstDash val="solid"/>
              <a:round/>
            </a:ln>
            <a:effectLst/>
          </c:spPr>
          <c:marker>
            <c:symbol val="circle"/>
            <c:size val="10"/>
            <c:spPr>
              <a:solidFill>
                <a:srgbClr val="51247A"/>
              </a:solidFill>
              <a:ln w="9525" cap="flat">
                <a:solidFill>
                  <a:srgbClr val="51247A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IID</c:v>
                </c:pt>
                <c:pt idx="1">
                  <c:v>α = 1.0</c:v>
                </c:pt>
                <c:pt idx="2">
                  <c:v>α = 0.5</c:v>
                </c:pt>
                <c:pt idx="3">
                  <c:v>α = 0.1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0.875</c:v>
                </c:pt>
                <c:pt idx="1">
                  <c:v>0.872</c:v>
                </c:pt>
                <c:pt idx="2">
                  <c:v>0.86899999999999999</c:v>
                </c:pt>
                <c:pt idx="3">
                  <c:v>0.81499999999999995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D75-404B-ADF7-0103B9E63D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FedProx (μ = 0.001)</c:v>
                </c:pt>
              </c:strCache>
            </c:strRef>
          </c:tx>
          <c:spPr>
            <a:ln w="50800" cap="flat">
              <a:solidFill>
                <a:srgbClr val="EB602B"/>
              </a:solidFill>
              <a:prstDash val="solid"/>
              <a:round/>
            </a:ln>
            <a:effectLst/>
          </c:spPr>
          <c:marker>
            <c:symbol val="circle"/>
            <c:size val="10"/>
            <c:spPr>
              <a:solidFill>
                <a:srgbClr val="EB602B"/>
              </a:solidFill>
              <a:ln w="9525" cap="flat">
                <a:solidFill>
                  <a:srgbClr val="EB602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IID</c:v>
                </c:pt>
                <c:pt idx="1">
                  <c:v>α = 1.0</c:v>
                </c:pt>
                <c:pt idx="2">
                  <c:v>α = 0.5</c:v>
                </c:pt>
                <c:pt idx="3">
                  <c:v>α = 0.1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0.873</c:v>
                </c:pt>
                <c:pt idx="1">
                  <c:v>0.873</c:v>
                </c:pt>
                <c:pt idx="2">
                  <c:v>0.86699999999999999</c:v>
                </c:pt>
                <c:pt idx="3">
                  <c:v>0.82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D75-404B-ADF7-0103B9E63D5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Centralised</c:v>
                </c:pt>
              </c:strCache>
            </c:strRef>
          </c:tx>
          <c:spPr>
            <a:ln w="50800" cap="flat">
              <a:solidFill>
                <a:srgbClr val="8A8490"/>
              </a:solidFill>
              <a:prstDash val="solid"/>
              <a:round/>
            </a:ln>
            <a:effectLst/>
          </c:spPr>
          <c:marker>
            <c:symbol val="circle"/>
            <c:size val="10"/>
            <c:spPr>
              <a:solidFill>
                <a:srgbClr val="8A8490"/>
              </a:solidFill>
              <a:ln w="9525" cap="flat">
                <a:solidFill>
                  <a:srgbClr val="8A8490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IID</c:v>
                </c:pt>
                <c:pt idx="1">
                  <c:v>α = 1.0</c:v>
                </c:pt>
                <c:pt idx="2">
                  <c:v>α = 0.5</c:v>
                </c:pt>
                <c:pt idx="3">
                  <c:v>α = 0.1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0.877</c:v>
                </c:pt>
                <c:pt idx="1">
                  <c:v>0.877</c:v>
                </c:pt>
                <c:pt idx="2">
                  <c:v>0.877</c:v>
                </c:pt>
                <c:pt idx="3">
                  <c:v>0.877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D75-404B-ADF7-0103B9E63D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6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75"/>
        </c:scaling>
        <c:delete val="0"/>
        <c:axPos val="l"/>
        <c:majorGridlines>
          <c:spPr>
            <a:ln w="12700" cap="flat">
              <a:solidFill>
                <a:srgbClr val="E2DDE8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6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1F1A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99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ELEVATOR PITCH (about 30 s): Hospitals each hold a small, different set of skin disease photos, and privacy law stops them pooling it. Federated learning trains one model without moving the photos. I tested whether FedProx, a method built for uneven data, beats plain averaging on 30 skin conditions. It didn't. Severe skew cost about six points either way, because a pretrained model barely drifts.
WALKTHROUGH (about 2 min): Motivation and the three sites. Aims. Method diagram: 10 clients, 5 per round, server averages. Skew stats show what alpha 0.1 does to the data. Results table: IID federation is within 0.2 points of centralised. Chart: no loss until alpha 0.1, then about 6 points, same for both methods. Mu curves: bigger mu only slows things. Why: pretrained start means little drift, matches NIID-Bench. Conclusion and limits.
LIKELY QUESTIONS: Where is the privacy in the title? Is 6 points significant given seed std? Why did more clients help at alpha 0.1? Why not SCAFFOLD or FedNova?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9385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800" b="1" dirty="0">
                <a:solidFill>
                  <a:schemeClr val="accent1"/>
                </a:solidFill>
              </a:rPr>
              <a:t>Privacy-Preserving Federated Learning for Distributed Skin Disease Classification</a:t>
            </a:r>
            <a:endParaRPr lang="en-US" sz="5800" dirty="0"/>
          </a:p>
        </p:txBody>
      </p:sp>
      <p:sp>
        <p:nvSpPr>
          <p:cNvPr id="3" name="Authors"/>
          <p:cNvSpPr txBox="1"/>
          <p:nvPr/>
        </p:nvSpPr>
        <p:spPr>
          <a:xfrm>
            <a:off x="548640" y="2377440"/>
            <a:ext cx="1938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Alex Gu, supervised by Dr Ruihong Qiu and Prof Zi (Helen) Huang</a:t>
            </a:r>
            <a:endParaRPr lang="en-US" sz="2600" dirty="0"/>
          </a:p>
        </p:txBody>
      </p:sp>
      <p:sp>
        <p:nvSpPr>
          <p:cNvPr id="4" name="Affiliation"/>
          <p:cNvSpPr txBox="1"/>
          <p:nvPr/>
        </p:nvSpPr>
        <p:spPr>
          <a:xfrm>
            <a:off x="548640" y="2852928"/>
            <a:ext cx="1938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6670"/>
                </a:solidFill>
              </a:rPr>
              <a:t>School of Electrical Engineering and Computer Science, The University of Queensland  |  REIT4881  |  alex.gu@student.uq.edu.au</a:t>
            </a:r>
            <a:endParaRPr lang="en-US" sz="2000" dirty="0"/>
          </a:p>
        </p:txBody>
      </p:sp>
      <p:sp>
        <p:nvSpPr>
          <p:cNvPr id="5" name="Key finding box"/>
          <p:cNvSpPr/>
          <p:nvPr/>
        </p:nvSpPr>
        <p:spPr>
          <a:xfrm>
            <a:off x="20482560" y="457200"/>
            <a:ext cx="9445752" cy="278892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Key finding text"/>
          <p:cNvSpPr txBox="1"/>
          <p:nvPr/>
        </p:nvSpPr>
        <p:spPr>
          <a:xfrm>
            <a:off x="20802600" y="685800"/>
            <a:ext cx="88056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</a:rPr>
              <a:t>Key finding</a:t>
            </a:r>
            <a:endParaRPr lang="en-US" sz="2200" dirty="0"/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</a:rPr>
              <a:t>Federated training matched the centralised model on IID data and lost about 6 points under severe label skew. FedProx did not reduce that loss beyond seed noise.</a:t>
            </a:r>
            <a:endParaRPr lang="en-US" sz="2200" dirty="0"/>
          </a:p>
        </p:txBody>
      </p:sp>
      <p:sp>
        <p:nvSpPr>
          <p:cNvPr id="7" name="Motivation panel"/>
          <p:cNvSpPr/>
          <p:nvPr/>
        </p:nvSpPr>
        <p:spPr>
          <a:xfrm>
            <a:off x="548640" y="3611880"/>
            <a:ext cx="6217920" cy="82296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Motivation heading"/>
          <p:cNvSpPr txBox="1"/>
          <p:nvPr/>
        </p:nvSpPr>
        <p:spPr>
          <a:xfrm>
            <a:off x="868680" y="388620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Motivation</a:t>
            </a:r>
            <a:endParaRPr lang="en-US" sz="3400" dirty="0"/>
          </a:p>
        </p:txBody>
      </p:sp>
      <p:sp>
        <p:nvSpPr>
          <p:cNvPr id="9" name="Motivation text"/>
          <p:cNvSpPr txBox="1"/>
          <p:nvPr/>
        </p:nvSpPr>
        <p:spPr>
          <a:xfrm>
            <a:off x="868680" y="4617720"/>
            <a:ext cx="55778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Skin disease classifiers need diverse photos, but those photos sit in separate hospitals. HIPAA and GDPR restrict pooling them.</a:t>
            </a:r>
            <a:endParaRPr lang="en-US" sz="2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Federated learning trains one model across sites. Each site trains on its own images and sends only model weights to a server, which averages them (FedAvg) [1].</a:t>
            </a:r>
            <a:endParaRPr lang="en-US" sz="2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Sites see different mixes of conditions, so local models drift apart. FedProx adds a penalty that pulls each local model back toward the global one [2].</a:t>
            </a:r>
            <a:endParaRPr lang="en-US" sz="2200" dirty="0"/>
          </a:p>
        </p:txBody>
      </p:sp>
      <p:sp>
        <p:nvSpPr>
          <p:cNvPr id="10" name="Site 1 card"/>
          <p:cNvSpPr/>
          <p:nvPr/>
        </p:nvSpPr>
        <p:spPr>
          <a:xfrm>
            <a:off x="868680" y="8686800"/>
            <a:ext cx="1691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2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1" name="Site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8823960"/>
            <a:ext cx="384048" cy="384048"/>
          </a:xfrm>
          <a:prstGeom prst="rect">
            <a:avLst/>
          </a:prstGeom>
        </p:spPr>
      </p:pic>
      <p:sp>
        <p:nvSpPr>
          <p:cNvPr id="12" name="Site 1 label"/>
          <p:cNvSpPr txBox="1"/>
          <p:nvPr/>
        </p:nvSpPr>
        <p:spPr>
          <a:xfrm>
            <a:off x="1463040" y="88239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Site A</a:t>
            </a:r>
            <a:endParaRPr lang="en-US" sz="1800" dirty="0"/>
          </a:p>
        </p:txBody>
      </p:sp>
      <p:sp>
        <p:nvSpPr>
          <p:cNvPr id="13" name="Site 1 bar 1"/>
          <p:cNvSpPr/>
          <p:nvPr/>
        </p:nvSpPr>
        <p:spPr>
          <a:xfrm>
            <a:off x="1051560" y="9445752"/>
            <a:ext cx="219456" cy="1069848"/>
          </a:xfrm>
          <a:prstGeom prst="rect">
            <a:avLst/>
          </a:prstGeom>
          <a:solidFill>
            <a:srgbClr val="51247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Site 1 bar 2"/>
          <p:cNvSpPr/>
          <p:nvPr/>
        </p:nvSpPr>
        <p:spPr>
          <a:xfrm>
            <a:off x="1344168" y="10277856"/>
            <a:ext cx="219456" cy="237744"/>
          </a:xfrm>
          <a:prstGeom prst="rect">
            <a:avLst/>
          </a:prstGeom>
          <a:solidFill>
            <a:srgbClr val="962A8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Site 1 bar 3"/>
          <p:cNvSpPr/>
          <p:nvPr/>
        </p:nvSpPr>
        <p:spPr>
          <a:xfrm>
            <a:off x="1636776" y="10396728"/>
            <a:ext cx="219456" cy="118872"/>
          </a:xfrm>
          <a:prstGeom prst="rect">
            <a:avLst/>
          </a:prstGeom>
          <a:solidFill>
            <a:srgbClr val="EB602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Site 1 bar 4"/>
          <p:cNvSpPr/>
          <p:nvPr/>
        </p:nvSpPr>
        <p:spPr>
          <a:xfrm>
            <a:off x="1929384" y="9921240"/>
            <a:ext cx="219456" cy="594360"/>
          </a:xfrm>
          <a:prstGeom prst="rect">
            <a:avLst/>
          </a:prstGeom>
          <a:solidFill>
            <a:srgbClr val="4085C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Site 1 bar 5"/>
          <p:cNvSpPr/>
          <p:nvPr/>
        </p:nvSpPr>
        <p:spPr>
          <a:xfrm>
            <a:off x="2221992" y="10396728"/>
            <a:ext cx="219456" cy="118872"/>
          </a:xfrm>
          <a:prstGeom prst="rect">
            <a:avLst/>
          </a:prstGeom>
          <a:solidFill>
            <a:srgbClr val="2EA83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Site 2 card"/>
          <p:cNvSpPr/>
          <p:nvPr/>
        </p:nvSpPr>
        <p:spPr>
          <a:xfrm>
            <a:off x="2811780" y="8686800"/>
            <a:ext cx="1691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2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9" name="Site 2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8940" y="8823960"/>
            <a:ext cx="384048" cy="384048"/>
          </a:xfrm>
          <a:prstGeom prst="rect">
            <a:avLst/>
          </a:prstGeom>
        </p:spPr>
      </p:pic>
      <p:sp>
        <p:nvSpPr>
          <p:cNvPr id="20" name="Site 2 label"/>
          <p:cNvSpPr txBox="1"/>
          <p:nvPr/>
        </p:nvSpPr>
        <p:spPr>
          <a:xfrm>
            <a:off x="3406140" y="88239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Site B</a:t>
            </a:r>
            <a:endParaRPr lang="en-US" sz="1800" dirty="0"/>
          </a:p>
        </p:txBody>
      </p:sp>
      <p:sp>
        <p:nvSpPr>
          <p:cNvPr id="21" name="Site 2 bar 1"/>
          <p:cNvSpPr/>
          <p:nvPr/>
        </p:nvSpPr>
        <p:spPr>
          <a:xfrm>
            <a:off x="2994660" y="10396728"/>
            <a:ext cx="219456" cy="118872"/>
          </a:xfrm>
          <a:prstGeom prst="rect">
            <a:avLst/>
          </a:prstGeom>
          <a:solidFill>
            <a:srgbClr val="51247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Site 2 bar 2"/>
          <p:cNvSpPr/>
          <p:nvPr/>
        </p:nvSpPr>
        <p:spPr>
          <a:xfrm>
            <a:off x="3287268" y="9564624"/>
            <a:ext cx="219456" cy="950976"/>
          </a:xfrm>
          <a:prstGeom prst="rect">
            <a:avLst/>
          </a:prstGeom>
          <a:solidFill>
            <a:srgbClr val="962A8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Site 2 bar 3"/>
          <p:cNvSpPr/>
          <p:nvPr/>
        </p:nvSpPr>
        <p:spPr>
          <a:xfrm>
            <a:off x="3579876" y="9802368"/>
            <a:ext cx="219456" cy="713232"/>
          </a:xfrm>
          <a:prstGeom prst="rect">
            <a:avLst/>
          </a:prstGeom>
          <a:solidFill>
            <a:srgbClr val="EB602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Site 2 bar 4"/>
          <p:cNvSpPr/>
          <p:nvPr/>
        </p:nvSpPr>
        <p:spPr>
          <a:xfrm>
            <a:off x="3872484" y="10396728"/>
            <a:ext cx="219456" cy="118872"/>
          </a:xfrm>
          <a:prstGeom prst="rect">
            <a:avLst/>
          </a:prstGeom>
          <a:solidFill>
            <a:srgbClr val="4085C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Site 2 bar 5"/>
          <p:cNvSpPr/>
          <p:nvPr/>
        </p:nvSpPr>
        <p:spPr>
          <a:xfrm>
            <a:off x="4165092" y="10277856"/>
            <a:ext cx="219456" cy="237744"/>
          </a:xfrm>
          <a:prstGeom prst="rect">
            <a:avLst/>
          </a:prstGeom>
          <a:solidFill>
            <a:srgbClr val="2EA83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Site 3 card"/>
          <p:cNvSpPr/>
          <p:nvPr/>
        </p:nvSpPr>
        <p:spPr>
          <a:xfrm>
            <a:off x="4754880" y="8686800"/>
            <a:ext cx="1691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2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7" name="Site 3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8823960"/>
            <a:ext cx="384048" cy="384048"/>
          </a:xfrm>
          <a:prstGeom prst="rect">
            <a:avLst/>
          </a:prstGeom>
        </p:spPr>
      </p:pic>
      <p:sp>
        <p:nvSpPr>
          <p:cNvPr id="28" name="Site 3 label"/>
          <p:cNvSpPr txBox="1"/>
          <p:nvPr/>
        </p:nvSpPr>
        <p:spPr>
          <a:xfrm>
            <a:off x="5349240" y="88239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Site C</a:t>
            </a:r>
            <a:endParaRPr lang="en-US" sz="1800" dirty="0"/>
          </a:p>
        </p:txBody>
      </p:sp>
      <p:sp>
        <p:nvSpPr>
          <p:cNvPr id="29" name="Site 3 bar 1"/>
          <p:cNvSpPr/>
          <p:nvPr/>
        </p:nvSpPr>
        <p:spPr>
          <a:xfrm>
            <a:off x="4937760" y="10277856"/>
            <a:ext cx="219456" cy="237744"/>
          </a:xfrm>
          <a:prstGeom prst="rect">
            <a:avLst/>
          </a:prstGeom>
          <a:solidFill>
            <a:srgbClr val="51247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0" name="Site 3 bar 2"/>
          <p:cNvSpPr/>
          <p:nvPr/>
        </p:nvSpPr>
        <p:spPr>
          <a:xfrm>
            <a:off x="5230368" y="10396728"/>
            <a:ext cx="219456" cy="118872"/>
          </a:xfrm>
          <a:prstGeom prst="rect">
            <a:avLst/>
          </a:prstGeom>
          <a:solidFill>
            <a:srgbClr val="962A8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1" name="Site 3 bar 3"/>
          <p:cNvSpPr/>
          <p:nvPr/>
        </p:nvSpPr>
        <p:spPr>
          <a:xfrm>
            <a:off x="5522976" y="10158984"/>
            <a:ext cx="219456" cy="356616"/>
          </a:xfrm>
          <a:prstGeom prst="rect">
            <a:avLst/>
          </a:prstGeom>
          <a:solidFill>
            <a:srgbClr val="EB602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2" name="Site 3 bar 4"/>
          <p:cNvSpPr/>
          <p:nvPr/>
        </p:nvSpPr>
        <p:spPr>
          <a:xfrm>
            <a:off x="5815584" y="10158984"/>
            <a:ext cx="219456" cy="356616"/>
          </a:xfrm>
          <a:prstGeom prst="rect">
            <a:avLst/>
          </a:prstGeom>
          <a:solidFill>
            <a:srgbClr val="4085C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3" name="Site 3 bar 5"/>
          <p:cNvSpPr/>
          <p:nvPr/>
        </p:nvSpPr>
        <p:spPr>
          <a:xfrm>
            <a:off x="6108192" y="9445752"/>
            <a:ext cx="219456" cy="1069848"/>
          </a:xfrm>
          <a:prstGeom prst="rect">
            <a:avLst/>
          </a:prstGeom>
          <a:solidFill>
            <a:srgbClr val="2EA83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4" name="Sites caption"/>
          <p:cNvSpPr txBox="1"/>
          <p:nvPr/>
        </p:nvSpPr>
        <p:spPr>
          <a:xfrm>
            <a:off x="868680" y="10808208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6B6670"/>
                </a:solidFill>
              </a:rPr>
              <a:t>Each bar is one condition. Every site sees a different mix, which is what non-IID means here.</a:t>
            </a:r>
            <a:endParaRPr lang="en-US" sz="1700" dirty="0"/>
          </a:p>
        </p:txBody>
      </p:sp>
      <p:sp>
        <p:nvSpPr>
          <p:cNvPr id="35" name="Aims panel"/>
          <p:cNvSpPr/>
          <p:nvPr/>
        </p:nvSpPr>
        <p:spPr>
          <a:xfrm>
            <a:off x="548640" y="12252960"/>
            <a:ext cx="6217920" cy="44348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6" name="Aims heading"/>
          <p:cNvSpPr txBox="1"/>
          <p:nvPr/>
        </p:nvSpPr>
        <p:spPr>
          <a:xfrm>
            <a:off x="868680" y="1252728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Aims</a:t>
            </a:r>
            <a:endParaRPr lang="en-US" sz="3400" dirty="0"/>
          </a:p>
        </p:txBody>
      </p:sp>
      <p:sp>
        <p:nvSpPr>
          <p:cNvPr id="37" name="Aims list"/>
          <p:cNvSpPr txBox="1"/>
          <p:nvPr/>
        </p:nvSpPr>
        <p:spPr>
          <a:xfrm>
            <a:off x="868680" y="13258800"/>
            <a:ext cx="5577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Measure how close FedAvg and FedProx get to centralised training on 30 skin conditions.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Measure how accuracy falls as label skew grows.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Test whether FedProx recovers what </a:t>
            </a:r>
            <a:r>
              <a:rPr lang="en-US" sz="2200" dirty="0" err="1">
                <a:solidFill>
                  <a:schemeClr val="tx1"/>
                </a:solidFill>
              </a:rPr>
              <a:t>FedAvg</a:t>
            </a:r>
            <a:r>
              <a:rPr lang="en-US" sz="2200" dirty="0">
                <a:solidFill>
                  <a:schemeClr val="tx1"/>
                </a:solidFill>
              </a:rPr>
              <a:t> loses and what it costs in communication.</a:t>
            </a:r>
            <a:endParaRPr lang="en-US" sz="2200" dirty="0"/>
          </a:p>
        </p:txBody>
      </p:sp>
      <p:sp>
        <p:nvSpPr>
          <p:cNvPr id="38" name="Method panel"/>
          <p:cNvSpPr/>
          <p:nvPr/>
        </p:nvSpPr>
        <p:spPr>
          <a:xfrm>
            <a:off x="7223760" y="3611880"/>
            <a:ext cx="6675120" cy="82296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9" name="Method heading"/>
          <p:cNvSpPr txBox="1"/>
          <p:nvPr/>
        </p:nvSpPr>
        <p:spPr>
          <a:xfrm>
            <a:off x="7543800" y="388620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Method</a:t>
            </a:r>
            <a:endParaRPr lang="en-US" sz="3400" dirty="0"/>
          </a:p>
        </p:txBody>
      </p:sp>
      <p:sp>
        <p:nvSpPr>
          <p:cNvPr id="40" name="Server box"/>
          <p:cNvSpPr/>
          <p:nvPr/>
        </p:nvSpPr>
        <p:spPr>
          <a:xfrm>
            <a:off x="8458200" y="4663440"/>
            <a:ext cx="420624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41" name="Server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4864608"/>
            <a:ext cx="457200" cy="457200"/>
          </a:xfrm>
          <a:prstGeom prst="rect">
            <a:avLst/>
          </a:prstGeom>
        </p:spPr>
      </p:pic>
      <p:sp>
        <p:nvSpPr>
          <p:cNvPr id="42" name="Server label"/>
          <p:cNvSpPr txBox="1"/>
          <p:nvPr/>
        </p:nvSpPr>
        <p:spPr>
          <a:xfrm>
            <a:off x="9281160" y="46634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Server averages client weights</a:t>
            </a:r>
            <a:endParaRPr lang="en-US" sz="1900" dirty="0"/>
          </a:p>
        </p:txBody>
      </p:sp>
      <p:sp>
        <p:nvSpPr>
          <p:cNvPr id="43" name="Client 1"/>
          <p:cNvSpPr/>
          <p:nvPr/>
        </p:nvSpPr>
        <p:spPr>
          <a:xfrm>
            <a:off x="7543800" y="6812280"/>
            <a:ext cx="438912" cy="438912"/>
          </a:xfrm>
          <a:prstGeom prst="ellipse">
            <a:avLst/>
          </a:prstGeom>
          <a:solidFill>
            <a:srgbClr val="EB602B"/>
          </a:solidFill>
          <a:ln w="25400">
            <a:solidFill>
              <a:srgbClr val="EB602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Client 2"/>
          <p:cNvSpPr/>
          <p:nvPr/>
        </p:nvSpPr>
        <p:spPr>
          <a:xfrm>
            <a:off x="8165592" y="6812280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C2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Client 3"/>
          <p:cNvSpPr/>
          <p:nvPr/>
        </p:nvSpPr>
        <p:spPr>
          <a:xfrm>
            <a:off x="8787384" y="6812280"/>
            <a:ext cx="438912" cy="438912"/>
          </a:xfrm>
          <a:prstGeom prst="ellipse">
            <a:avLst/>
          </a:prstGeom>
          <a:solidFill>
            <a:srgbClr val="EB602B"/>
          </a:solidFill>
          <a:ln w="25400">
            <a:solidFill>
              <a:srgbClr val="EB602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6" name="Client 4"/>
          <p:cNvSpPr/>
          <p:nvPr/>
        </p:nvSpPr>
        <p:spPr>
          <a:xfrm>
            <a:off x="9409176" y="6812280"/>
            <a:ext cx="438912" cy="438912"/>
          </a:xfrm>
          <a:prstGeom prst="ellipse">
            <a:avLst/>
          </a:prstGeom>
          <a:solidFill>
            <a:srgbClr val="EB602B"/>
          </a:solidFill>
          <a:ln w="25400">
            <a:solidFill>
              <a:srgbClr val="EB602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7" name="Client 5"/>
          <p:cNvSpPr/>
          <p:nvPr/>
        </p:nvSpPr>
        <p:spPr>
          <a:xfrm>
            <a:off x="10030968" y="6812280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C2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8" name="Client 6"/>
          <p:cNvSpPr/>
          <p:nvPr/>
        </p:nvSpPr>
        <p:spPr>
          <a:xfrm>
            <a:off x="10652760" y="6812280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C2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9" name="Client 7"/>
          <p:cNvSpPr/>
          <p:nvPr/>
        </p:nvSpPr>
        <p:spPr>
          <a:xfrm>
            <a:off x="11274552" y="6812280"/>
            <a:ext cx="438912" cy="438912"/>
          </a:xfrm>
          <a:prstGeom prst="ellipse">
            <a:avLst/>
          </a:prstGeom>
          <a:solidFill>
            <a:srgbClr val="EB602B"/>
          </a:solidFill>
          <a:ln w="25400">
            <a:solidFill>
              <a:srgbClr val="EB602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" name="Client 8"/>
          <p:cNvSpPr/>
          <p:nvPr/>
        </p:nvSpPr>
        <p:spPr>
          <a:xfrm>
            <a:off x="11896344" y="6812280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C2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1" name="Client 9"/>
          <p:cNvSpPr/>
          <p:nvPr/>
        </p:nvSpPr>
        <p:spPr>
          <a:xfrm>
            <a:off x="12518136" y="6812280"/>
            <a:ext cx="438912" cy="438912"/>
          </a:xfrm>
          <a:prstGeom prst="ellipse">
            <a:avLst/>
          </a:prstGeom>
          <a:solidFill>
            <a:srgbClr val="EB602B"/>
          </a:solidFill>
          <a:ln w="25400">
            <a:solidFill>
              <a:srgbClr val="EB602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2" name="Client 10"/>
          <p:cNvSpPr/>
          <p:nvPr/>
        </p:nvSpPr>
        <p:spPr>
          <a:xfrm>
            <a:off x="13139928" y="6812280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C2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3" name="Down arrow"/>
          <p:cNvSpPr/>
          <p:nvPr/>
        </p:nvSpPr>
        <p:spPr>
          <a:xfrm>
            <a:off x="9354312" y="5623560"/>
            <a:ext cx="0" cy="1097280"/>
          </a:xfrm>
          <a:prstGeom prst="line">
            <a:avLst/>
          </a:prstGeom>
          <a:noFill/>
          <a:ln w="31750">
            <a:solidFill>
              <a:srgbClr val="1F1A24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54" name="Up arrow"/>
          <p:cNvSpPr/>
          <p:nvPr/>
        </p:nvSpPr>
        <p:spPr>
          <a:xfrm>
            <a:off x="11768328" y="5623560"/>
            <a:ext cx="0" cy="1097280"/>
          </a:xfrm>
          <a:prstGeom prst="line">
            <a:avLst/>
          </a:prstGeom>
          <a:noFill/>
          <a:ln w="31750">
            <a:solidFill>
              <a:srgbClr val="1F1A24"/>
            </a:solidFill>
            <a:prstDash val="solid"/>
            <a:head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55" name="Down label"/>
          <p:cNvSpPr txBox="1"/>
          <p:nvPr/>
        </p:nvSpPr>
        <p:spPr>
          <a:xfrm>
            <a:off x="7388352" y="5943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dirty="0">
                <a:solidFill>
                  <a:schemeClr val="tx1"/>
                </a:solidFill>
              </a:rPr>
              <a:t>global model</a:t>
            </a:r>
            <a:endParaRPr lang="en-US" sz="1700" dirty="0"/>
          </a:p>
        </p:txBody>
      </p:sp>
      <p:sp>
        <p:nvSpPr>
          <p:cNvPr id="56" name="Up label"/>
          <p:cNvSpPr txBox="1"/>
          <p:nvPr/>
        </p:nvSpPr>
        <p:spPr>
          <a:xfrm>
            <a:off x="11905488" y="5943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local weights</a:t>
            </a:r>
            <a:endParaRPr lang="en-US" sz="1700" dirty="0"/>
          </a:p>
        </p:txBody>
      </p:sp>
      <p:sp>
        <p:nvSpPr>
          <p:cNvPr id="57" name="Clients caption"/>
          <p:cNvSpPr txBox="1"/>
          <p:nvPr/>
        </p:nvSpPr>
        <p:spPr>
          <a:xfrm>
            <a:off x="7543800" y="73609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6B6670"/>
                </a:solidFill>
              </a:rPr>
              <a:t>10 simulated clients. 5 chosen at random each round (orange).</a:t>
            </a:r>
            <a:endParaRPr lang="en-US" sz="1700" dirty="0"/>
          </a:p>
        </p:txBody>
      </p:sp>
      <p:sp>
        <p:nvSpPr>
          <p:cNvPr id="58" name="Setup list"/>
          <p:cNvSpPr txBox="1"/>
          <p:nvPr/>
        </p:nvSpPr>
        <p:spPr>
          <a:xfrm>
            <a:off x="7543800" y="7909560"/>
            <a:ext cx="60350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30 classes of clinical photos from a public Kaggle dataset [3]. Test set of 3,000 images, 100 per class, shared by every method.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ImageNet-pretrained ResNet-18 [4] for every method.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5 local epochs, batch 32, 100 rounds.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Label skew from a Dirichlet split [5] with α of 1.0, 0.5 and 0.1. Lower α means more skew.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FedProx μ from 0.001 to 1. Three seeds per setting.</a:t>
            </a:r>
            <a:endParaRPr lang="en-US" sz="2100" dirty="0"/>
          </a:p>
        </p:txBody>
      </p:sp>
      <p:sp>
        <p:nvSpPr>
          <p:cNvPr id="59" name="Partition panel"/>
          <p:cNvSpPr/>
          <p:nvPr/>
        </p:nvSpPr>
        <p:spPr>
          <a:xfrm>
            <a:off x="7223760" y="12252960"/>
            <a:ext cx="6675120" cy="44348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0" name="Partition heading"/>
          <p:cNvSpPr txBox="1"/>
          <p:nvPr/>
        </p:nvSpPr>
        <p:spPr>
          <a:xfrm>
            <a:off x="7543800" y="1252728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Skew at α = 0.1</a:t>
            </a:r>
            <a:endParaRPr lang="en-US" sz="3400" dirty="0"/>
          </a:p>
        </p:txBody>
      </p:sp>
      <p:sp>
        <p:nvSpPr>
          <p:cNvPr id="61" name="Stat 1 number"/>
          <p:cNvSpPr txBox="1"/>
          <p:nvPr/>
        </p:nvSpPr>
        <p:spPr>
          <a:xfrm>
            <a:off x="7543800" y="13304520"/>
            <a:ext cx="185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chemeClr val="accent2"/>
                </a:solidFill>
              </a:rPr>
              <a:t>8–27</a:t>
            </a:r>
            <a:endParaRPr lang="en-US" sz="5000" dirty="0"/>
          </a:p>
        </p:txBody>
      </p:sp>
      <p:sp>
        <p:nvSpPr>
          <p:cNvPr id="62" name="Stat 1 label"/>
          <p:cNvSpPr txBox="1"/>
          <p:nvPr/>
        </p:nvSpPr>
        <p:spPr>
          <a:xfrm>
            <a:off x="7543800" y="14264640"/>
            <a:ext cx="185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classes per client, out of 30</a:t>
            </a:r>
            <a:endParaRPr lang="en-US" sz="1800" dirty="0"/>
          </a:p>
        </p:txBody>
      </p:sp>
      <p:sp>
        <p:nvSpPr>
          <p:cNvPr id="63" name="Stat 2 number"/>
          <p:cNvSpPr txBox="1"/>
          <p:nvPr/>
        </p:nvSpPr>
        <p:spPr>
          <a:xfrm>
            <a:off x="9631680" y="13304520"/>
            <a:ext cx="185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chemeClr val="accent2"/>
                </a:solidFill>
              </a:rPr>
              <a:t>45%</a:t>
            </a:r>
            <a:endParaRPr lang="en-US" sz="5000" dirty="0"/>
          </a:p>
        </p:txBody>
      </p:sp>
      <p:sp>
        <p:nvSpPr>
          <p:cNvPr id="64" name="Stat 2 label"/>
          <p:cNvSpPr txBox="1"/>
          <p:nvPr/>
        </p:nvSpPr>
        <p:spPr>
          <a:xfrm>
            <a:off x="9631680" y="14264640"/>
            <a:ext cx="185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of client-class pairs are empty</a:t>
            </a:r>
            <a:endParaRPr lang="en-US" sz="1800" dirty="0"/>
          </a:p>
        </p:txBody>
      </p:sp>
      <p:sp>
        <p:nvSpPr>
          <p:cNvPr id="65" name="Stat 3 number"/>
          <p:cNvSpPr txBox="1"/>
          <p:nvPr/>
        </p:nvSpPr>
        <p:spPr>
          <a:xfrm>
            <a:off x="11719560" y="13304520"/>
            <a:ext cx="185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chemeClr val="accent2"/>
                </a:solidFill>
              </a:rPr>
              <a:t>13×</a:t>
            </a:r>
            <a:endParaRPr lang="en-US" sz="5000" dirty="0"/>
          </a:p>
        </p:txBody>
      </p:sp>
      <p:sp>
        <p:nvSpPr>
          <p:cNvPr id="66" name="Stat 3 label"/>
          <p:cNvSpPr txBox="1"/>
          <p:nvPr/>
        </p:nvSpPr>
        <p:spPr>
          <a:xfrm>
            <a:off x="11719560" y="14264640"/>
            <a:ext cx="185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size gap, largest to smallest client</a:t>
            </a:r>
            <a:endParaRPr lang="en-US" sz="1800" dirty="0"/>
          </a:p>
        </p:txBody>
      </p:sp>
      <p:sp>
        <p:nvSpPr>
          <p:cNvPr id="67" name="Partition caption"/>
          <p:cNvSpPr txBox="1"/>
          <p:nvPr/>
        </p:nvSpPr>
        <p:spPr>
          <a:xfrm>
            <a:off x="7543800" y="154076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6B6670"/>
                </a:solidFill>
              </a:rPr>
              <a:t>10 clients, seed 42. At α = 0.5 and 1.0 every client still holds at least 26 classes.</a:t>
            </a:r>
            <a:endParaRPr lang="en-US" sz="1700" dirty="0"/>
          </a:p>
        </p:txBody>
      </p:sp>
      <p:sp>
        <p:nvSpPr>
          <p:cNvPr id="68" name="Results panel"/>
          <p:cNvSpPr/>
          <p:nvPr/>
        </p:nvSpPr>
        <p:spPr>
          <a:xfrm>
            <a:off x="14356080" y="3611880"/>
            <a:ext cx="8778240" cy="110642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9" name="Results heading"/>
          <p:cNvSpPr txBox="1"/>
          <p:nvPr/>
        </p:nvSpPr>
        <p:spPr>
          <a:xfrm>
            <a:off x="14676120" y="38862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Results</a:t>
            </a:r>
            <a:endParaRPr lang="en-US" sz="3400" dirty="0"/>
          </a:p>
        </p:txBody>
      </p:sp>
      <p:sp>
        <p:nvSpPr>
          <p:cNvPr id="70" name="IID subheading"/>
          <p:cNvSpPr txBox="1"/>
          <p:nvPr/>
        </p:nvSpPr>
        <p:spPr>
          <a:xfrm>
            <a:off x="14676120" y="46177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IID data: federation matches centralised training</a:t>
            </a:r>
            <a:endParaRPr lang="en-US" sz="2400" dirty="0"/>
          </a:p>
        </p:txBody>
      </p:sp>
      <p:graphicFrame>
        <p:nvGraphicFramePr>
          <p:cNvPr id="71" name="II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76120" y="5212080"/>
          <a:ext cx="8138160" cy="2011680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24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accuracy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24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 F1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24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Rounds to 0.85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24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1F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Centralised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1F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0.877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1F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0.875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1F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1F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FedAvg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1F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0.875 ± 0.001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1F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0.873 ± 0.001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1F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19.3 ± 1.2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1F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FedProx (μ = 0.001)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1F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0.873 ± 0.002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1F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0.872 ± 0.002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1F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 ± 2.0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2" name="Table caption"/>
          <p:cNvSpPr txBox="1"/>
          <p:nvPr/>
        </p:nvSpPr>
        <p:spPr>
          <a:xfrm>
            <a:off x="14676120" y="73609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6B6670"/>
                </a:solidFill>
              </a:rPr>
              <a:t>Mean ± std over 3 seeds. Every 100-round run moved 44.8 GB of model weights between server and clients.</a:t>
            </a:r>
            <a:endParaRPr lang="en-US" sz="1700" dirty="0"/>
          </a:p>
        </p:txBody>
      </p:sp>
      <p:sp>
        <p:nvSpPr>
          <p:cNvPr id="73" name="Non-IID subheading"/>
          <p:cNvSpPr txBox="1"/>
          <p:nvPr/>
        </p:nvSpPr>
        <p:spPr>
          <a:xfrm>
            <a:off x="14676120" y="822960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Label skew: about 6 points lost at α = 0.1, FedProx tracks FedAvg</a:t>
            </a:r>
            <a:endParaRPr lang="en-US" sz="2400" dirty="0"/>
          </a:p>
        </p:txBody>
      </p:sp>
      <p:graphicFrame>
        <p:nvGraphicFramePr>
          <p:cNvPr id="74" name="Accuracy vs alpha chart"/>
          <p:cNvGraphicFramePr/>
          <p:nvPr/>
        </p:nvGraphicFramePr>
        <p:xfrm>
          <a:off x="14676120" y="9189720"/>
          <a:ext cx="416052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5" name="Chart caption"/>
          <p:cNvSpPr txBox="1"/>
          <p:nvPr/>
        </p:nvSpPr>
        <p:spPr>
          <a:xfrm>
            <a:off x="14676120" y="1362456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6B6670"/>
                </a:solidFill>
              </a:rPr>
              <a:t>Mean over 3 seeds. At α = 0.1 the seed std is about 1.2 points, so FedProx's 0.5-point lead is noise.</a:t>
            </a:r>
            <a:endParaRPr lang="en-US" sz="1700" dirty="0"/>
          </a:p>
        </p:txBody>
      </p:sp>
      <p:sp>
        <p:nvSpPr>
          <p:cNvPr id="78" name="Figure caption"/>
          <p:cNvSpPr txBox="1"/>
          <p:nvPr/>
        </p:nvSpPr>
        <p:spPr>
          <a:xfrm>
            <a:off x="19156680" y="136245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6B6670"/>
                </a:solidFill>
              </a:rPr>
              <a:t>Larger μ slows convergence. At μ = 1 (one seed) the model is still climbing at round 100, 10 points below FedAvg.</a:t>
            </a:r>
            <a:endParaRPr lang="en-US" sz="1700" dirty="0"/>
          </a:p>
        </p:txBody>
      </p:sp>
      <p:sp>
        <p:nvSpPr>
          <p:cNvPr id="79" name="References"/>
          <p:cNvSpPr txBox="1"/>
          <p:nvPr/>
        </p:nvSpPr>
        <p:spPr>
          <a:xfrm>
            <a:off x="14356080" y="14996160"/>
            <a:ext cx="8778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51247A"/>
                </a:solidFill>
              </a:rPr>
              <a:t>References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1A24"/>
                </a:solidFill>
              </a:rPr>
              <a:t>[1] McMahan et al., AISTATS 2017.  [2] Li et al., MLSys 2020.  [3] M. A. Sami, Massive Skin Disease Balanced Dataset, Kaggle.  [4] He et al., CVPR 2016.  [5] Hsu et al., arXiv:1909.06335, 2019.  [6] Q. Li, Diao, Chen and He, ICDE 2022.  [7] Bonawitz et al., ACM CCS 2017.</a:t>
            </a:r>
          </a:p>
          <a:p>
            <a:pPr>
              <a:spcAft>
                <a:spcPts val="400"/>
              </a:spcAft>
            </a:pPr>
            <a:r>
              <a:rPr lang="en-US" sz="1400" i="1">
                <a:solidFill>
                  <a:srgbClr val="1F1A24"/>
                </a:solidFill>
              </a:rPr>
              <a:t>Thanks to Laith Alzubaidi.</a:t>
            </a:r>
            <a:endParaRPr lang="en-US" sz="1400">
              <a:solidFill>
                <a:srgbClr val="1F1A24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endParaRPr lang="en-US" sz="1400" dirty="0">
              <a:solidFill>
                <a:srgbClr val="1F1A24"/>
              </a:solidFill>
            </a:endParaRPr>
          </a:p>
        </p:txBody>
      </p:sp>
      <p:sp>
        <p:nvSpPr>
          <p:cNvPr id="80" name="Why panel"/>
          <p:cNvSpPr/>
          <p:nvPr/>
        </p:nvSpPr>
        <p:spPr>
          <a:xfrm>
            <a:off x="23591520" y="3611880"/>
            <a:ext cx="6336792" cy="448056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1" name="Why heading"/>
          <p:cNvSpPr txBox="1"/>
          <p:nvPr/>
        </p:nvSpPr>
        <p:spPr>
          <a:xfrm>
            <a:off x="23911560" y="3886200"/>
            <a:ext cx="5696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Why FedProx did not help</a:t>
            </a:r>
            <a:endParaRPr lang="en-US" sz="3400" dirty="0"/>
          </a:p>
        </p:txBody>
      </p:sp>
      <p:sp>
        <p:nvSpPr>
          <p:cNvPr id="82" name="Why text"/>
          <p:cNvSpPr txBox="1"/>
          <p:nvPr/>
        </p:nvSpPr>
        <p:spPr>
          <a:xfrm>
            <a:off x="23911560" y="4617720"/>
            <a:ext cx="569671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The penalty only acts when local models drift from the global model. Starting every client from ImageNet weights kept drift small, so μ = 0.001 behaved like FedAvg.</a:t>
            </a:r>
            <a:endParaRPr lang="en-US" sz="2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Larger μ held clients back with no drift to correct, so it only slowed training.</a:t>
            </a:r>
            <a:endParaRPr lang="en-US" sz="2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NIID-Bench [6] found the same across many non-IID splits.</a:t>
            </a:r>
            <a:endParaRPr lang="en-US" sz="2100" dirty="0"/>
          </a:p>
        </p:txBody>
      </p:sp>
      <p:sp>
        <p:nvSpPr>
          <p:cNvPr id="83" name="Conclusion panel"/>
          <p:cNvSpPr/>
          <p:nvPr/>
        </p:nvSpPr>
        <p:spPr>
          <a:xfrm>
            <a:off x="23591520" y="8503920"/>
            <a:ext cx="6336792" cy="329184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4" name="Conclusion text"/>
          <p:cNvSpPr txBox="1"/>
          <p:nvPr/>
        </p:nvSpPr>
        <p:spPr>
          <a:xfrm>
            <a:off x="23911560" y="8778240"/>
            <a:ext cx="569671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</a:t>
            </a:r>
            <a:endParaRPr lang="en-US" sz="3400" dirty="0"/>
          </a:p>
          <a:p>
            <a:r>
              <a:rPr lang="en-US" sz="2200" dirty="0">
                <a:solidFill>
                  <a:srgbClr val="FFFFFF"/>
                </a:solidFill>
              </a:rPr>
              <a:t>When fine-tuning a pretrained CNN on skin photos, plain </a:t>
            </a:r>
            <a:r>
              <a:rPr lang="en-US" sz="2200" dirty="0" err="1">
                <a:solidFill>
                  <a:srgbClr val="FFFFFF"/>
                </a:solidFill>
              </a:rPr>
              <a:t>FedAvg</a:t>
            </a:r>
            <a:r>
              <a:rPr lang="en-US" sz="2200" dirty="0">
                <a:solidFill>
                  <a:srgbClr val="FFFFFF"/>
                </a:solidFill>
              </a:rPr>
              <a:t> is enough. </a:t>
            </a:r>
            <a:r>
              <a:rPr lang="en-AU" sz="2200" dirty="0">
                <a:solidFill>
                  <a:srgbClr val="FFFFFF"/>
                </a:solidFill>
              </a:rPr>
              <a:t>Under severe label skew, </a:t>
            </a:r>
            <a:r>
              <a:rPr lang="en-AU" sz="2200" dirty="0" err="1">
                <a:solidFill>
                  <a:srgbClr val="FFFFFF"/>
                </a:solidFill>
              </a:rPr>
              <a:t>FedProx</a:t>
            </a:r>
            <a:r>
              <a:rPr lang="en-AU" sz="2200" dirty="0">
                <a:solidFill>
                  <a:srgbClr val="FFFFFF"/>
                </a:solidFill>
              </a:rPr>
              <a:t> did not measurably close the gap.</a:t>
            </a:r>
            <a:endParaRPr lang="en-US" sz="2200" dirty="0">
              <a:solidFill>
                <a:srgbClr val="FFFFFF"/>
              </a:solidFill>
            </a:endParaRPr>
          </a:p>
        </p:txBody>
      </p:sp>
      <p:sp>
        <p:nvSpPr>
          <p:cNvPr id="85" name="Limits panel"/>
          <p:cNvSpPr/>
          <p:nvPr/>
        </p:nvSpPr>
        <p:spPr>
          <a:xfrm>
            <a:off x="23591520" y="12207240"/>
            <a:ext cx="6336792" cy="448056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6" name="Limits heading"/>
          <p:cNvSpPr txBox="1"/>
          <p:nvPr/>
        </p:nvSpPr>
        <p:spPr>
          <a:xfrm>
            <a:off x="23911560" y="12481560"/>
            <a:ext cx="5696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Limits and next steps</a:t>
            </a:r>
            <a:endParaRPr lang="en-US" sz="3400" dirty="0"/>
          </a:p>
        </p:txBody>
      </p:sp>
      <p:sp>
        <p:nvSpPr>
          <p:cNvPr id="87" name="Limits list"/>
          <p:cNvSpPr txBox="1"/>
          <p:nvPr/>
        </p:nvSpPr>
        <p:spPr>
          <a:xfrm>
            <a:off x="23911560" y="13213080"/>
            <a:ext cx="569671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Limited by one dataset and label skew only. Real hospitals also differ in cameras and lighting.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 privacy attack or defence was tested. Secure aggregation [7] and differential privacy </a:t>
            </a:r>
            <a:r>
              <a:rPr lang="en-US" sz="2000" dirty="0"/>
              <a:t>should be tested.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Force drift with stragglers, random init or 20 local epochs to find where FedProx starts to help.</a:t>
            </a:r>
            <a:endParaRPr lang="en-US" sz="2000" dirty="0"/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DDCEAB5D-73D1-A626-34B3-32B4BB33A8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56680" y="10031384"/>
            <a:ext cx="3657600" cy="26600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UQ Poster">
  <a:themeElements>
    <a:clrScheme name="UQ Poster">
      <a:dk1>
        <a:srgbClr val="1F1A24"/>
      </a:dk1>
      <a:lt1>
        <a:srgbClr val="FFFFFF"/>
      </a:lt1>
      <a:dk2>
        <a:srgbClr val="51247A"/>
      </a:dk2>
      <a:lt2>
        <a:srgbClr val="F3F0F7"/>
      </a:lt2>
      <a:accent1>
        <a:srgbClr val="51247A"/>
      </a:accent1>
      <a:accent2>
        <a:srgbClr val="EB602B"/>
      </a:accent2>
      <a:accent3>
        <a:srgbClr val="962A8B"/>
      </a:accent3>
      <a:accent4>
        <a:srgbClr val="4085C6"/>
      </a:accent4>
      <a:accent5>
        <a:srgbClr val="2EA836"/>
      </a:accent5>
      <a:accent6>
        <a:srgbClr val="E62645"/>
      </a:accent6>
      <a:hlink>
        <a:srgbClr val="51247A"/>
      </a:hlink>
      <a:folHlink>
        <a:srgbClr val="962A8B"/>
      </a:folHlink>
    </a:clrScheme>
    <a:fontScheme name="UQ Post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979</Words>
  <Application>Microsoft Office PowerPoint</Application>
  <PresentationFormat>Custom</PresentationFormat>
  <Paragraphs>73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UQ Poster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Privacy-Preserving Federated Learning for Distributed Skin Disease Classification</dc:title>
  <dc:subject>PptxGenJS Presentation</dc:subject>
  <dc:creator>Alex Gu</dc:creator>
  <cp:lastModifiedBy>Alex G</cp:lastModifiedBy>
  <cp:revision>5</cp:revision>
  <dcterms:created xsi:type="dcterms:W3CDTF">2026-10-09T01:23:10Z</dcterms:created>
  <dcterms:modified xsi:type="dcterms:W3CDTF">2026-10-12T01:55:36Z</dcterms:modified>
</cp:coreProperties>
</file>