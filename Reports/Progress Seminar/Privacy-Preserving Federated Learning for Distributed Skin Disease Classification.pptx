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456" r:id="rId5"/>
    <p:sldId id="457" r:id="rId6"/>
    <p:sldId id="437" r:id="rId7"/>
    <p:sldId id="381" r:id="rId8"/>
    <p:sldId id="442" r:id="rId9"/>
    <p:sldId id="443" r:id="rId10"/>
    <p:sldId id="446" r:id="rId11"/>
    <p:sldId id="441" r:id="rId12"/>
    <p:sldId id="448" r:id="rId13"/>
    <p:sldId id="455" r:id="rId14"/>
    <p:sldId id="449" r:id="rId15"/>
    <p:sldId id="450" r:id="rId16"/>
    <p:sldId id="453" r:id="rId17"/>
    <p:sldId id="454" r:id="rId18"/>
    <p:sldId id="458" r:id="rId19"/>
    <p:sldId id="459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1CC"/>
    <a:srgbClr val="51247A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6301" autoAdjust="0"/>
  </p:normalViewPr>
  <p:slideViewPr>
    <p:cSldViewPr showGuides="1">
      <p:cViewPr varScale="1">
        <p:scale>
          <a:sx n="70" d="100"/>
          <a:sy n="70" d="100"/>
        </p:scale>
        <p:origin x="525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14/05/2026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14/05/2026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 Insurance Portability and Accountability Act</a:t>
            </a:r>
            <a:r>
              <a:rPr lang="en-US" dirty="0"/>
              <a:t> (HIPAA)</a:t>
            </a:r>
          </a:p>
          <a:p>
            <a:r>
              <a:rPr lang="en-AU" dirty="0"/>
              <a:t>General Data Protection Regulation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2812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E7728F-8A85-DF13-E1AF-75E2A93E219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25" y="476672"/>
            <a:ext cx="1584127" cy="415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934B2-2948-8EFA-273A-78FFEBE064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03" y="476672"/>
            <a:ext cx="5949572" cy="590507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18E225F-0D36-9E09-0E29-77686F5F9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08560"/>
            <a:ext cx="4660694" cy="1196503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8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6E3F5D4-36F8-373D-D701-0FF8D3E69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293096"/>
            <a:ext cx="4660694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E099D4B-4E15-CEC1-3412-EB3731DC62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2" y="2138783"/>
            <a:ext cx="4660693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and purple circles on a purple background&#10;&#10;AI-generated content may be incorrect.">
            <a:extLst>
              <a:ext uri="{FF2B5EF4-FFF2-40B4-BE49-F238E27FC236}">
                <a16:creationId xmlns:a16="http://schemas.microsoft.com/office/drawing/2014/main" id="{AA2200D0-D143-DCBA-A3D4-B712FCB52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539976"/>
            <a:ext cx="7488238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16991"/>
            <a:ext cx="7488238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AD11661-531B-4B30-7473-B472BB0D2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61694"/>
            <a:ext cx="3744913" cy="3750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2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48009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pink gradient&#10;&#10;AI-generated content may be incorrect.">
            <a:extLst>
              <a:ext uri="{FF2B5EF4-FFF2-40B4-BE49-F238E27FC236}">
                <a16:creationId xmlns:a16="http://schemas.microsoft.com/office/drawing/2014/main" id="{9148998B-84C7-00BD-220C-CC9050D49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9E832F7-051D-8941-BEFC-BA3C9EFE1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80569"/>
            <a:ext cx="4228645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8A46B0F-6D19-4504-BB7C-AD33C5953E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365104"/>
            <a:ext cx="4228645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A8C480-5E98-C233-4D6F-1C16AE04E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1985159"/>
            <a:ext cx="4199908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FEBA-1D32-4499-C65C-D81E28CD37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1" y="476250"/>
            <a:ext cx="1584127" cy="415356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1C16364-654B-057D-C4FF-2A0477FFA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6318" y="1"/>
            <a:ext cx="6856415" cy="6858003"/>
          </a:xfrm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9260399-596A-9C24-223D-E3272F91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6814219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847FA-1991-B5DE-D0B8-B130ED59C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D20FD1A-D07E-976E-EE58-6C1854E04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EFADAFC-35C0-7FF8-7AEC-AA9470906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3511A177-3064-9265-EA29-DEC181F580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6974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FDD0B3A-4305-B55A-4748-3C6086E3731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03199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83F5E66-EFB5-7C96-2B25-8050F9A74F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942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DB25363F-6960-462A-6024-058EE2DCF5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3D22C2E7-B324-D8E4-7D70-CBD7E813F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3199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93F7F85B-A63E-916D-240E-C6BC4B813C4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03199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A75FEC3F-4A08-4034-3C6E-FBDC165494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2697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613BB411-4D8A-51A3-FA0C-A818E3E03F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697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98D33835-74AF-8A30-B9EE-9FDABEB6C9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9425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2D780CF7-9FFC-8427-F804-9606032B18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6974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4035CACC-6326-0D5E-AB24-2AC017FBEE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03199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C3E340EE-A2F0-1159-9329-5756F5F7BE5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942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4" name="Text Placeholder 50">
            <a:extLst>
              <a:ext uri="{FF2B5EF4-FFF2-40B4-BE49-F238E27FC236}">
                <a16:creationId xmlns:a16="http://schemas.microsoft.com/office/drawing/2014/main" id="{2BD0702A-F825-BAB6-1EA1-99964C0486F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942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BB198AFA-CC9D-5A32-C6D5-8EE55C48B6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03199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0A64674F-9532-C648-EA82-43BE721C86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03199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3310ED37-C52F-7262-0B80-E0D70DF28B1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12697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8" name="Text Placeholder 50">
            <a:extLst>
              <a:ext uri="{FF2B5EF4-FFF2-40B4-BE49-F238E27FC236}">
                <a16:creationId xmlns:a16="http://schemas.microsoft.com/office/drawing/2014/main" id="{F2ABF0B6-6F3B-3D8A-C607-D1DD4DE7F42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2697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258D4A9D-7F5A-B58B-F1C5-5FA54508EA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942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0" name="Text Placeholder 50">
            <a:extLst>
              <a:ext uri="{FF2B5EF4-FFF2-40B4-BE49-F238E27FC236}">
                <a16:creationId xmlns:a16="http://schemas.microsoft.com/office/drawing/2014/main" id="{41C82DD2-5FEE-DF74-B91A-08EA68F5617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942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C419A681-6FA3-F318-75CB-2CA99437ED9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3199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2" name="Text Placeholder 50">
            <a:extLst>
              <a:ext uri="{FF2B5EF4-FFF2-40B4-BE49-F238E27FC236}">
                <a16:creationId xmlns:a16="http://schemas.microsoft.com/office/drawing/2014/main" id="{213566ED-E0D9-DD79-95EA-43E7D8E004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03199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8164237E-900B-19D5-C46E-1A05AB248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12697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4" name="Text Placeholder 50">
            <a:extLst>
              <a:ext uri="{FF2B5EF4-FFF2-40B4-BE49-F238E27FC236}">
                <a16:creationId xmlns:a16="http://schemas.microsoft.com/office/drawing/2014/main" id="{89819A83-5634-E387-5A8A-776CB57C08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2697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7688CC-CF50-8B09-6349-D9EBFF6CFAF6}"/>
              </a:ext>
            </a:extLst>
          </p:cNvPr>
          <p:cNvSpPr/>
          <p:nvPr userDrawn="1"/>
        </p:nvSpPr>
        <p:spPr>
          <a:xfrm>
            <a:off x="0" y="286"/>
            <a:ext cx="12192000" cy="685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9121" y="1628774"/>
            <a:ext cx="5616575" cy="47529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table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87503C3-B6DF-DC97-7CC2-D17E823DC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21" y="895344"/>
            <a:ext cx="681421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633E9-6EF0-67DF-EDBA-DD8C76BCF21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BAA408-E3C2-1785-01EB-39071591CA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4DFBF4C-8CC5-D979-7560-108442F979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9798F-A694-B632-320E-87B23996EA42}"/>
              </a:ext>
            </a:extLst>
          </p:cNvPr>
          <p:cNvSpPr/>
          <p:nvPr userDrawn="1"/>
        </p:nvSpPr>
        <p:spPr>
          <a:xfrm>
            <a:off x="9768408" y="152687"/>
            <a:ext cx="2423592" cy="1044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urple and pink circles&#10;&#10;AI-generated content may be incorrect.">
            <a:extLst>
              <a:ext uri="{FF2B5EF4-FFF2-40B4-BE49-F238E27FC236}">
                <a16:creationId xmlns:a16="http://schemas.microsoft.com/office/drawing/2014/main" id="{FE7F088E-A593-E0D0-876C-D0E5DE6E3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379" y="476250"/>
            <a:ext cx="39624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17441-3242-4A2B-A38D-01AD5E507A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69D81-322F-846D-FCF2-3F26F1B21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6632C79-E6EF-8603-13B6-430F0089D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636912"/>
            <a:ext cx="4529596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 goes here</a:t>
            </a: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6E4D25-A5E9-48E9-3262-EC46D37667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2132856"/>
            <a:ext cx="1780373" cy="3504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24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01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422C64C-6E74-694B-7D11-5A95CF8ED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7066" y="2644009"/>
            <a:ext cx="3279414" cy="124371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prae</a:t>
            </a:r>
            <a:r>
              <a:rPr lang="en-US" dirty="0"/>
              <a:t> sent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CEFE01E-62B6-86EC-5B5C-F1EC7A5A1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A7C31BB-BBB5-01D3-C03A-56100B5B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84F05AB-744C-B436-B6DE-9CB6380731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F4138E5-B1E7-1B20-8E5C-D58ECB0091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30ECCD8-80B1-EF49-1930-8671D36FB1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4C1955-2009-E738-2E69-5C68F226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75E1D-FF13-4267-440E-2C862D6A5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F6E292F-64A1-B92F-821C-5D5374F553FE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85857AA-3C69-6FBB-4A53-A62053F0C40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268761"/>
            <a:ext cx="3485677" cy="1799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05F563-7148-A4BC-065D-70F31E7CD2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D34AD85-3B68-F6E4-2B32-A5E634C6A1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19D9DDF-5659-A8CD-1F31-621F560242E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79CCB2B-EA6A-07F3-E374-7C69E2AA4BB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4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A629DB-68F8-4F09-503D-5AA9266F7E1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F0D21FF-80A7-826A-4A58-57A092E872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256D2-F837-AC53-A987-93959E061C5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F9B7C-CB28-3A90-481A-DC6BEF640652}"/>
              </a:ext>
            </a:extLst>
          </p:cNvPr>
          <p:cNvSpPr/>
          <p:nvPr userDrawn="1"/>
        </p:nvSpPr>
        <p:spPr>
          <a:xfrm>
            <a:off x="0" y="286"/>
            <a:ext cx="12192000" cy="685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0F3E36A-4EBF-47B9-BCC1-75D2781A09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484784"/>
            <a:ext cx="3587751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03AB8B9-705D-9EB6-61DF-4A1C6194F0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484784"/>
            <a:ext cx="3485678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43997FD-E4BE-6666-7605-3DC6903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484785"/>
            <a:ext cx="3585888" cy="136807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8CD5B7-3BBA-3A3A-0CFF-D990A76AA2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3284662"/>
            <a:ext cx="3744914" cy="273662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BF3F8-121A-7C93-0AA4-68702D146F2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832EEB49-E3E8-2949-364A-7A731489AEFA}"/>
              </a:ext>
            </a:extLst>
          </p:cNvPr>
          <p:cNvSpPr/>
          <p:nvPr userDrawn="1"/>
        </p:nvSpPr>
        <p:spPr>
          <a:xfrm flipH="1" flipV="1">
            <a:off x="8124826" y="0"/>
            <a:ext cx="4067173" cy="6858000"/>
          </a:xfrm>
          <a:prstGeom prst="round1Rect">
            <a:avLst>
              <a:gd name="adj" fmla="val 36146"/>
            </a:avLst>
          </a:prstGeom>
          <a:gradFill>
            <a:gsLst>
              <a:gs pos="0">
                <a:schemeClr val="accent2"/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92295" y="156527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192295" y="278129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92295" y="399730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192295" y="521332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688162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688162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688162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688162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276696D-8D14-4585-9604-5A008488CFB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4EB503B-F620-32DF-36DF-10A7FBA9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7390685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F8CCC-8CBE-E992-6E21-C9AB4B1A3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739068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BA7640B-B8AC-33C0-35DA-CEEFFC9B821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798AF3-3C99-5F49-CB7E-1E0E7D35FF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7665-A294-1EA5-FA10-A5E2C8A9E5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66DC6-E98D-4EB4-3BE2-DBD96355BA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4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83074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9117C5C-8131-4EBC-FB2F-515A84B9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4ED851F-A74B-8BEB-BD56-328B63E75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DD4130B3-A21B-BC5E-65C5-C4114440B1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7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FA429BF-02FC-9EB2-8DE8-364B75C4DCF9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90327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4750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BC80DF-B4A1-B427-757B-C8F10AB6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BF508D1-ECA5-3CA6-0BF5-15748D904F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8EA84CA-9C46-6B04-A550-7D02537DA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79424" y="448017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7109590-4252-2C31-19EF-25F6AD9873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CE408F5-62CC-4EB4-5FDD-927F021A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91BB3C-538D-90D4-3CED-E09116993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6750F02-6810-AFC6-7EB5-8805498279D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732814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11E16D7-E5EB-37A0-5AD9-2394356E38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39068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AA8668-06C8-FA91-21F0-BE6E9CE8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358A85-0EFD-E04C-E56D-736FED2D72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4ACD41-4423-E11C-E6D4-A1AB88C254D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A8FC85D-D8A3-881C-1F52-364C4980DC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8181528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BC66E0C-5E5E-C471-C0DD-5A0908B6090B}"/>
              </a:ext>
            </a:extLst>
          </p:cNvPr>
          <p:cNvSpPr/>
          <p:nvPr userDrawn="1"/>
        </p:nvSpPr>
        <p:spPr>
          <a:xfrm flipV="1">
            <a:off x="-2" y="-2"/>
            <a:ext cx="4224339" cy="6381750"/>
          </a:xfrm>
          <a:custGeom>
            <a:avLst/>
            <a:gdLst>
              <a:gd name="csX0" fmla="*/ 0 w 4224339"/>
              <a:gd name="csY0" fmla="*/ 6381750 h 6381750"/>
              <a:gd name="csX1" fmla="*/ 4224339 w 4224339"/>
              <a:gd name="csY1" fmla="*/ 6381750 h 6381750"/>
              <a:gd name="csX2" fmla="*/ 4224339 w 4224339"/>
              <a:gd name="csY2" fmla="*/ 1526928 h 6381750"/>
              <a:gd name="csX3" fmla="*/ 2853529 w 4224339"/>
              <a:gd name="csY3" fmla="*/ 7881 h 6381750"/>
              <a:gd name="csX4" fmla="*/ 2697449 w 4224339"/>
              <a:gd name="csY4" fmla="*/ 0 h 6381750"/>
              <a:gd name="csX5" fmla="*/ 0 w 4224339"/>
              <a:gd name="csY5" fmla="*/ 0 h 6381750"/>
              <a:gd name="csX6" fmla="*/ 0 w 4224339"/>
              <a:gd name="csY6" fmla="*/ 6381750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24339" h="6381750">
                <a:moveTo>
                  <a:pt x="0" y="6381750"/>
                </a:moveTo>
                <a:lnTo>
                  <a:pt x="4224339" y="6381750"/>
                </a:lnTo>
                <a:lnTo>
                  <a:pt x="4224339" y="1526928"/>
                </a:lnTo>
                <a:cubicBezTo>
                  <a:pt x="4224339" y="736334"/>
                  <a:pt x="3623492" y="86076"/>
                  <a:pt x="2853529" y="7881"/>
                </a:cubicBezTo>
                <a:lnTo>
                  <a:pt x="2697449" y="0"/>
                </a:lnTo>
                <a:lnTo>
                  <a:pt x="0" y="0"/>
                </a:lnTo>
                <a:lnTo>
                  <a:pt x="0" y="638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1198"/>
            <a:ext cx="3312320" cy="1241658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>
                <a:solidFill>
                  <a:schemeClr val="bg1"/>
                </a:solidFill>
              </a:rPr>
              <a:t>Click to edit Master title style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97D5DBB-B4A6-4BEC-5ACC-FD2EA2AE3F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D65D4F27-BE5A-565C-2DAE-B92AC6727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A6C279F-EDA7-57F0-098A-A5B1F8020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9974" y="0"/>
            <a:ext cx="12191999" cy="6381751"/>
          </a:xfrm>
          <a:custGeom>
            <a:avLst/>
            <a:gdLst>
              <a:gd name="csX0" fmla="*/ 0 w 12191999"/>
              <a:gd name="csY0" fmla="*/ 0 h 6381751"/>
              <a:gd name="csX1" fmla="*/ 12191999 w 12191999"/>
              <a:gd name="csY1" fmla="*/ 0 h 6381751"/>
              <a:gd name="csX2" fmla="*/ 12191999 w 12191999"/>
              <a:gd name="csY2" fmla="*/ 6381751 h 6381751"/>
              <a:gd name="csX3" fmla="*/ 2697451 w 12191999"/>
              <a:gd name="csY3" fmla="*/ 6381751 h 6381751"/>
              <a:gd name="csX4" fmla="*/ 2853531 w 12191999"/>
              <a:gd name="csY4" fmla="*/ 6373870 h 6381751"/>
              <a:gd name="csX5" fmla="*/ 4224342 w 12191999"/>
              <a:gd name="csY5" fmla="*/ 4854823 h 6381751"/>
              <a:gd name="csX6" fmla="*/ 4224342 w 12191999"/>
              <a:gd name="csY6" fmla="*/ 1 h 6381751"/>
              <a:gd name="csX7" fmla="*/ 2 w 12191999"/>
              <a:gd name="csY7" fmla="*/ 1 h 6381751"/>
              <a:gd name="csX8" fmla="*/ 2 w 12191999"/>
              <a:gd name="csY8" fmla="*/ 6381751 h 6381751"/>
              <a:gd name="csX9" fmla="*/ 0 w 12191999"/>
              <a:gd name="csY9" fmla="*/ 6381751 h 63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1999" h="6381751">
                <a:moveTo>
                  <a:pt x="0" y="0"/>
                </a:moveTo>
                <a:lnTo>
                  <a:pt x="12191999" y="0"/>
                </a:lnTo>
                <a:lnTo>
                  <a:pt x="12191999" y="6381751"/>
                </a:lnTo>
                <a:lnTo>
                  <a:pt x="2697451" y="6381751"/>
                </a:lnTo>
                <a:lnTo>
                  <a:pt x="2853531" y="6373870"/>
                </a:lnTo>
                <a:cubicBezTo>
                  <a:pt x="3623494" y="6295675"/>
                  <a:pt x="4224342" y="5645417"/>
                  <a:pt x="4224342" y="4854823"/>
                </a:cubicBezTo>
                <a:lnTo>
                  <a:pt x="4224342" y="1"/>
                </a:lnTo>
                <a:lnTo>
                  <a:pt x="2" y="1"/>
                </a:lnTo>
                <a:lnTo>
                  <a:pt x="2" y="6381751"/>
                </a:lnTo>
                <a:lnTo>
                  <a:pt x="0" y="6381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16718B7-EF0B-0AAA-4AA7-80B08F0D82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243917"/>
            <a:ext cx="3312320" cy="25347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AU" dirty="0"/>
              <a:t>Enter text here.</a:t>
            </a:r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010C4D-4846-733B-A504-3488020A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FADF4A9-8D82-B20E-082C-AE0FF06B01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DCFD398-BD29-8074-BF4C-3A80267858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79425" y="2255838"/>
            <a:ext cx="11233149" cy="4125914"/>
          </a:xfrm>
          <a:custGeom>
            <a:avLst/>
            <a:gdLst>
              <a:gd name="csX0" fmla="*/ 0 w 11233149"/>
              <a:gd name="csY0" fmla="*/ 0 h 4125914"/>
              <a:gd name="csX1" fmla="*/ 9780839 w 11233149"/>
              <a:gd name="csY1" fmla="*/ 0 h 4125914"/>
              <a:gd name="csX2" fmla="*/ 9918432 w 11233149"/>
              <a:gd name="csY2" fmla="*/ 6948 h 4125914"/>
              <a:gd name="csX3" fmla="*/ 11233149 w 11233149"/>
              <a:gd name="csY3" fmla="*/ 1463836 h 4125914"/>
              <a:gd name="csX4" fmla="*/ 11233149 w 11233149"/>
              <a:gd name="csY4" fmla="*/ 4125914 h 4125914"/>
              <a:gd name="csX5" fmla="*/ 0 w 11233149"/>
              <a:gd name="csY5" fmla="*/ 4125914 h 4125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33149" h="4125914">
                <a:moveTo>
                  <a:pt x="0" y="0"/>
                </a:moveTo>
                <a:lnTo>
                  <a:pt x="9780839" y="0"/>
                </a:lnTo>
                <a:lnTo>
                  <a:pt x="9918432" y="6948"/>
                </a:lnTo>
                <a:cubicBezTo>
                  <a:pt x="10656889" y="81942"/>
                  <a:pt x="11233149" y="705593"/>
                  <a:pt x="11233149" y="1463836"/>
                </a:cubicBezTo>
                <a:lnTo>
                  <a:pt x="11233149" y="4125914"/>
                </a:lnTo>
                <a:lnTo>
                  <a:pt x="0" y="412591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1968" y="6006222"/>
            <a:ext cx="11200605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 and bring to front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9C5E-9C74-3B22-9EF3-7486BE45D0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1EB1417-F284-8693-4B49-9F2DAA9FE7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A58D727-BB58-3FDD-F908-D614190D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254264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AF720F-B0B1-5AFC-396A-63C9E3DE5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25426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2F5B3-C559-A051-FED5-A21477E72CA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3A3D459F-7726-6A0A-5AED-4ECEB303B9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33A7A0-F601-4B65-6D3F-089EE59FA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2318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06848-6332-CAAE-B118-3335117D9E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2318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70C628A-9409-8A34-7DD1-450B750B02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00881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A7D26F4-036A-F2F1-403F-445458B4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6984728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98A590-2A25-0F65-E755-28E9F0E25E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698472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CCE597F-86D7-DE24-0269-B59E472911C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FE2C2C7-E69B-D4BD-540E-94A6945AA5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345633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D4A3C22-A0DB-4971-AE76-220B91354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449836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C7C509-88E0-8755-5280-4C93616BFE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44983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87B4F8-6381-7CB4-1769-4E71DA1485D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E95E40-1F67-A4BD-91C4-10B06BFC34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9B085CFE-8F09-5C09-45D9-4593D77EC85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2FC4ACD-EFA3-1B1F-4B54-E7DC753B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31034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1290900-1990-559A-FAD4-99BAAD6596A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3103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7195E38-7FC6-7C82-976B-914090CDB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16622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5B1274-67FF-A2FC-0D74-AEBB180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7152748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B058D29-C047-45AA-11DE-4409C6E9A0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71527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F4C80DA-14CA-F090-B26A-86FCAC7C3D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4" y="893308"/>
            <a:ext cx="3419087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Title style</a:t>
            </a:r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19CBD8E-3770-7829-B81C-887EC570A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4190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2F3770-19C5-C250-0939-BF474B72D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9424" y="1573248"/>
            <a:ext cx="34190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949" y="3862812"/>
            <a:ext cx="3587751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4431" y="3862812"/>
            <a:ext cx="3485678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302" y="3862065"/>
            <a:ext cx="3594272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EFA8B0-6F1D-3FA5-D5DE-A78BF875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2CD57-BDE9-E3AF-4B63-2D4ED2B9B8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EAB24A-D8DA-1396-1E18-B18BBCBFDE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007295-B63F-1B35-3794-AF5DE83FCA4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C8E6D614-DBC8-6713-90B3-CFDB1407185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5418129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28934-1104-B82C-2D0A-4CF994E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463A811-89AA-C956-B600-9A35D201FD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363152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363152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363152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363152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D54C86-4413-02C5-0A93-C116834B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DE0003D-4D2E-6D51-02D8-02AC677C46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2894"/>
            <a:ext cx="5346039" cy="5108856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3C3501C-A414-1050-2672-EEB7D3C6A7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6218"/>
            <a:ext cx="5342561" cy="5105532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2D64416-2888-E40E-073B-DD693DAFFE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276218"/>
            <a:ext cx="5327974" cy="5091592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2319ED4-653B-CEC3-3E72-36058D6EFF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5613D74-E949-9C78-0F5C-A4BEC4A3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305818"/>
            <a:ext cx="5616575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9DF032-A55C-0205-77CC-FBAD702882E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FB939B-1052-2EB4-A2BD-0ACCD8CBF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768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920B90-DAA5-B751-5EA1-5F06FA9E90B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05818"/>
            <a:ext cx="5616575" cy="30844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F226896-64ED-7B6B-AAB5-7F257FD8F066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7368B7D-B079-FEEC-53CC-564CF45D4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1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51D36C-464A-753A-A6C2-6007FD2CD35B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14346"/>
            <a:ext cx="5616575" cy="3067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5853BB6-C502-32B6-58E2-30B288C2E67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3F47B8-B250-F48C-4B21-5272C7937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736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200" y="2255224"/>
            <a:ext cx="3584502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245259"/>
            <a:ext cx="3584502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750" y="2247916"/>
            <a:ext cx="3584502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3184A03-36F4-FCF1-20AB-9B1635C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BFBA294-9F8C-CCE9-9C42-DAD73C473A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94748" y="2255224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6325" y="3959842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A52EEE-7440-4E1E-7FFA-F213B4D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4E25D70-C914-D1F1-DA51-874D6B0D50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28">
            <a:extLst>
              <a:ext uri="{FF2B5EF4-FFF2-40B4-BE49-F238E27FC236}">
                <a16:creationId xmlns:a16="http://schemas.microsoft.com/office/drawing/2014/main" id="{68A78954-C598-334A-B4E0-A0F0D0361E6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85207" y="4890961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50AAF34-C7A5-1CA9-8F66-9A655EC50C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6782" y="2252914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3483" y="2653252"/>
            <a:ext cx="5399089" cy="1567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3484" y="4705409"/>
            <a:ext cx="5399089" cy="16873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485" y="4426925"/>
            <a:ext cx="5401302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3484" y="2255225"/>
            <a:ext cx="5401300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F5296CB-B0A0-30E7-090B-56B41A0A01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8E43D-6B82-3167-3033-C5FED336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86FE995-3B5D-9762-9039-0BBDE09B5A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96A8804-7F42-E0AD-5EA9-31B3BD29CF8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4269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80356" y="2240725"/>
            <a:ext cx="11228570" cy="4141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298BCD9-9C21-56E1-7707-F77B44BB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77B2126-C11C-FA39-C0A6-D201513ACE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96026" y="3108744"/>
            <a:ext cx="2304000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479425" y="1381104"/>
            <a:ext cx="3442433" cy="500004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72290" y="1381104"/>
            <a:ext cx="2301456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700734"/>
            <a:ext cx="2952328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7408" y="5553582"/>
            <a:ext cx="2808312" cy="49327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996026" y="1381104"/>
            <a:ext cx="2304000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72290" y="4725144"/>
            <a:ext cx="2301456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176FF6-6361-5464-4628-C711AA41332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46010" y="1381104"/>
            <a:ext cx="2966565" cy="5000040"/>
          </a:xfrm>
          <a:custGeom>
            <a:avLst/>
            <a:gdLst>
              <a:gd name="csX0" fmla="*/ 0 w 2966565"/>
              <a:gd name="csY0" fmla="*/ 0 h 5000040"/>
              <a:gd name="csX1" fmla="*/ 2472128 w 2966565"/>
              <a:gd name="csY1" fmla="*/ 0 h 5000040"/>
              <a:gd name="csX2" fmla="*/ 2966565 w 2966565"/>
              <a:gd name="csY2" fmla="*/ 494437 h 5000040"/>
              <a:gd name="csX3" fmla="*/ 2966565 w 2966565"/>
              <a:gd name="csY3" fmla="*/ 5000040 h 5000040"/>
              <a:gd name="csX4" fmla="*/ 0 w 2966565"/>
              <a:gd name="csY4" fmla="*/ 5000040 h 50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66565" h="5000040">
                <a:moveTo>
                  <a:pt x="0" y="0"/>
                </a:moveTo>
                <a:lnTo>
                  <a:pt x="2472128" y="0"/>
                </a:lnTo>
                <a:cubicBezTo>
                  <a:pt x="2745198" y="0"/>
                  <a:pt x="2966565" y="221367"/>
                  <a:pt x="2966565" y="494437"/>
                </a:cubicBezTo>
                <a:lnTo>
                  <a:pt x="2966565" y="5000040"/>
                </a:lnTo>
                <a:lnTo>
                  <a:pt x="0" y="50000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77706-EC87-69BB-A13C-3DBE025C7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79394" y="3563385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79425" y="2568471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79394" y="3904257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79394" y="4204989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79394" y="4420889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9376" y="6283729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0D34-62BC-17A1-2183-1AFBC4F90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F271C1A-1346-A2EE-441D-A300778F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25" y="6381750"/>
            <a:ext cx="3744913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7" y="6381750"/>
            <a:ext cx="504007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7ADE36-9EB9-1A3D-CE99-C5552C1ECBB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819" r:id="rId2"/>
    <p:sldLayoutId id="2147483816" r:id="rId3"/>
    <p:sldLayoutId id="2147483799" r:id="rId4"/>
    <p:sldLayoutId id="2147483800" r:id="rId5"/>
    <p:sldLayoutId id="2147483792" r:id="rId6"/>
    <p:sldLayoutId id="2147483650" r:id="rId7"/>
    <p:sldLayoutId id="2147483652" r:id="rId8"/>
    <p:sldLayoutId id="2147483778" r:id="rId9"/>
    <p:sldLayoutId id="2147483804" r:id="rId10"/>
    <p:sldLayoutId id="2147483805" r:id="rId11"/>
    <p:sldLayoutId id="2147483803" r:id="rId12"/>
    <p:sldLayoutId id="2147483806" r:id="rId13"/>
    <p:sldLayoutId id="2147483779" r:id="rId14"/>
    <p:sldLayoutId id="2147483728" r:id="rId15"/>
    <p:sldLayoutId id="2147483656" r:id="rId16"/>
    <p:sldLayoutId id="2147483732" r:id="rId17"/>
    <p:sldLayoutId id="2147483793" r:id="rId18"/>
    <p:sldLayoutId id="2147483657" r:id="rId19"/>
    <p:sldLayoutId id="2147483765" r:id="rId20"/>
    <p:sldLayoutId id="2147483787" r:id="rId21"/>
    <p:sldLayoutId id="2147483788" r:id="rId22"/>
    <p:sldLayoutId id="2147483794" r:id="rId23"/>
    <p:sldLayoutId id="2147483795" r:id="rId24"/>
    <p:sldLayoutId id="2147483796" r:id="rId25"/>
    <p:sldLayoutId id="2147483791" r:id="rId26"/>
    <p:sldLayoutId id="2147483797" r:id="rId27"/>
    <p:sldLayoutId id="2147483790" r:id="rId28"/>
    <p:sldLayoutId id="2147483798" r:id="rId29"/>
    <p:sldLayoutId id="2147483768" r:id="rId30"/>
    <p:sldLayoutId id="2147483770" r:id="rId31"/>
    <p:sldLayoutId id="2147483771" r:id="rId32"/>
    <p:sldLayoutId id="2147483821" r:id="rId33"/>
    <p:sldLayoutId id="2147483822" r:id="rId34"/>
    <p:sldLayoutId id="2147483823" r:id="rId35"/>
    <p:sldLayoutId id="2147483789" r:id="rId36"/>
    <p:sldLayoutId id="2147483776" r:id="rId37"/>
    <p:sldLayoutId id="2147483777" r:id="rId38"/>
    <p:sldLayoutId id="2147483820" r:id="rId39"/>
    <p:sldLayoutId id="2147483808" r:id="rId40"/>
    <p:sldLayoutId id="2147483814" r:id="rId41"/>
    <p:sldLayoutId id="2147483811" r:id="rId42"/>
    <p:sldLayoutId id="2147483780" r:id="rId43"/>
    <p:sldLayoutId id="2147483813" r:id="rId44"/>
    <p:sldLayoutId id="2147483812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302" userDrawn="1">
          <p15:clr>
            <a:srgbClr val="F26B43"/>
          </p15:clr>
        </p15:guide>
        <p15:guide id="7" orient="horz" pos="300" userDrawn="1">
          <p15:clr>
            <a:srgbClr val="F26B43"/>
          </p15:clr>
        </p15:guide>
        <p15:guide id="11" orient="horz" pos="4020" userDrawn="1">
          <p15:clr>
            <a:srgbClr val="F26B43"/>
          </p15:clr>
        </p15:guide>
        <p15:guide id="13" pos="7378" userDrawn="1">
          <p15:clr>
            <a:srgbClr val="F26B43"/>
          </p15:clr>
        </p15:guide>
        <p15:guide id="14" orient="horz" pos="1026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  <p15:guide id="21" pos="2661" userDrawn="1">
          <p15:clr>
            <a:srgbClr val="F26B43"/>
          </p15:clr>
        </p15:guide>
        <p15:guide id="22" pos="50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D245-ED11-9F03-6B26-A481A2BF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539976"/>
            <a:ext cx="7920831" cy="1096862"/>
          </a:xfrm>
        </p:spPr>
        <p:txBody>
          <a:bodyPr/>
          <a:lstStyle/>
          <a:p>
            <a:r>
              <a:rPr lang="en-US" sz="3600" dirty="0"/>
              <a:t>Privacy-Preserving Federated Learning for Distributed Skin Disease Classification</a:t>
            </a:r>
            <a:endParaRPr lang="en-AU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46013-99C6-C481-8819-4AEFD5F9F9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Alex Gu</a:t>
            </a:r>
          </a:p>
          <a:p>
            <a:r>
              <a:rPr lang="en-AU" dirty="0"/>
              <a:t>Supervised by Ruihong Qiu and Zi (Helen) Huang</a:t>
            </a:r>
          </a:p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0A407-798A-92B2-82A9-166ECCB4E6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473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B9C696D-DCCA-4DDF-945E-E8B440769978}"/>
              </a:ext>
            </a:extLst>
          </p:cNvPr>
          <p:cNvGraphicFramePr>
            <a:graphicFrameLocks noGrp="1"/>
          </p:cNvGraphicFramePr>
          <p:nvPr>
            <p:ph type="tbl" sz="quarter" idx="12"/>
          </p:nvPr>
        </p:nvGraphicFramePr>
        <p:xfrm>
          <a:off x="498475" y="1628775"/>
          <a:ext cx="5616573" cy="2681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732">
                  <a:extLst>
                    <a:ext uri="{9D8B030D-6E8A-4147-A177-3AD203B41FA5}">
                      <a16:colId xmlns:a16="http://schemas.microsoft.com/office/drawing/2014/main" val="1412744563"/>
                    </a:ext>
                  </a:extLst>
                </a:gridCol>
                <a:gridCol w="4401744">
                  <a:extLst>
                    <a:ext uri="{9D8B030D-6E8A-4147-A177-3AD203B41FA5}">
                      <a16:colId xmlns:a16="http://schemas.microsoft.com/office/drawing/2014/main" val="4103533323"/>
                    </a:ext>
                  </a:extLst>
                </a:gridCol>
                <a:gridCol w="683097">
                  <a:extLst>
                    <a:ext uri="{9D8B030D-6E8A-4147-A177-3AD203B41FA5}">
                      <a16:colId xmlns:a16="http://schemas.microsoft.com/office/drawing/2014/main" val="4031576228"/>
                    </a:ext>
                  </a:extLst>
                </a:gridCol>
              </a:tblGrid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01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Motivation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</a:txBody>
                  <a:tcPr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286624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02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Background &amp; Methods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345526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03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Knowledge Gap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60688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04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Project Aim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917254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05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Progress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853280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06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Next Steps &amp; Conclusion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5589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EB43691-51B2-4EC3-A47A-B9731D21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139C6-9BBB-B6FA-98D4-243DBA335B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845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03D6-48C8-32B3-991F-279F452E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03" y="2636912"/>
            <a:ext cx="4012621" cy="1096862"/>
          </a:xfrm>
        </p:spPr>
        <p:txBody>
          <a:bodyPr/>
          <a:lstStyle/>
          <a:p>
            <a:r>
              <a:rPr lang="en-US" dirty="0"/>
              <a:t>Definitions and 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59274-D161-7537-910E-CFC789E2C6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81C8-BED3-F455-46DD-41914224C3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709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DA7275-BA72-4B36-81F9-16F86F71B62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9216976" cy="4126526"/>
          </a:xfrm>
        </p:spPr>
        <p:txBody>
          <a:bodyPr/>
          <a:lstStyle/>
          <a:p>
            <a:r>
              <a:rPr lang="en-AU" sz="2000" dirty="0"/>
              <a:t>Federated Learning</a:t>
            </a:r>
          </a:p>
          <a:p>
            <a:pPr lvl="2"/>
            <a:r>
              <a:rPr lang="en-AU" sz="1800" dirty="0"/>
              <a:t>Training a shared model across distributed data without centralising the data</a:t>
            </a:r>
          </a:p>
          <a:p>
            <a:pPr lvl="2"/>
            <a:endParaRPr lang="en-AU" sz="1800" dirty="0"/>
          </a:p>
          <a:p>
            <a:r>
              <a:rPr lang="en-AU" sz="2000" dirty="0"/>
              <a:t>Non-IID</a:t>
            </a:r>
          </a:p>
          <a:p>
            <a:pPr lvl="2"/>
            <a:r>
              <a:rPr lang="en-AU" sz="1800" dirty="0"/>
              <a:t>Not independent and identically distributed data</a:t>
            </a:r>
          </a:p>
          <a:p>
            <a:pPr lvl="2"/>
            <a:r>
              <a:rPr lang="en-AU" sz="1800" dirty="0"/>
              <a:t>Data is distributed differently across nodes</a:t>
            </a:r>
          </a:p>
          <a:p>
            <a:pPr lvl="3"/>
            <a:r>
              <a:rPr lang="en-AU" sz="1800" dirty="0"/>
              <a:t>Data does not come from the same probability distribution</a:t>
            </a:r>
          </a:p>
          <a:p>
            <a:pPr lvl="2"/>
            <a:endParaRPr lang="en-AU" sz="1800" dirty="0"/>
          </a:p>
          <a:p>
            <a:endParaRPr lang="en-AU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49B155-7DE3-4876-B7C8-AF706848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dirty="0"/>
              <a:t>Definitions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9C0018-33FE-9817-7364-760BE09D35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45711-46CD-8C1A-AB95-60F6B3F814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38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The image depicts a simple network diagram with three interconnected nodes, each symbolizing a data service, connected to a central server, which is represented by a square.&#10;&#10;AI-generated content may be incorrect.">
            <a:extLst>
              <a:ext uri="{FF2B5EF4-FFF2-40B4-BE49-F238E27FC236}">
                <a16:creationId xmlns:a16="http://schemas.microsoft.com/office/drawing/2014/main" id="{BE8193BF-29D5-35A4-936D-C786E3EC633B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3"/>
          <a:srcRect l="2706" r="3345" b="1"/>
          <a:stretch>
            <a:fillRect/>
          </a:stretch>
        </p:blipFill>
        <p:spPr>
          <a:xfrm>
            <a:off x="4943872" y="1412776"/>
            <a:ext cx="6312024" cy="505564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5CF54-66C5-75AC-091C-B4A66C93E6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843253"/>
            <a:ext cx="3265487" cy="4126526"/>
          </a:xfrm>
        </p:spPr>
        <p:txBody>
          <a:bodyPr>
            <a:normAutofit lnSpcReduction="10000"/>
          </a:bodyPr>
          <a:lstStyle/>
          <a:p>
            <a:r>
              <a:rPr lang="en-AU" sz="1800" b="0" dirty="0"/>
              <a:t>Skin diseases are among the most prevalent health conditions globally [1].</a:t>
            </a:r>
          </a:p>
          <a:p>
            <a:r>
              <a:rPr lang="en-AU" sz="1800" b="0" dirty="0"/>
              <a:t>Deep learning can classify dermatologist level [2] but generalisation requires diverse data across skin tones, imaging hardware and patient demographics.</a:t>
            </a:r>
          </a:p>
          <a:p>
            <a:r>
              <a:rPr lang="en-AU" sz="1800" b="0" dirty="0"/>
              <a:t>In practice, this data sits in separate health institutions. HIPAA and GDPR restrict centralisation, so a single institution rarely holds enough data to train a robust classifier.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D081-3324-250D-0EFD-CDEF091D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895344"/>
            <a:ext cx="3254264" cy="469056"/>
          </a:xfrm>
        </p:spPr>
        <p:txBody>
          <a:bodyPr anchor="t">
            <a:normAutofit/>
          </a:bodyPr>
          <a:lstStyle/>
          <a:p>
            <a:r>
              <a:rPr lang="en-AU" sz="3300"/>
              <a:t>Motivation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6E38-3DDE-F8DC-E914-B132F90616B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989C46-14C3-C08E-626A-34D347CDD8D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AU" dirty="0"/>
              <a:t>[1] Hay et al., JID 2014    [2] Esteva et al., Nature 2017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484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3D1A4C-46CC-BF77-5BEC-B17110D97E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1916832"/>
            <a:ext cx="3587751" cy="4126526"/>
          </a:xfrm>
        </p:spPr>
        <p:txBody>
          <a:bodyPr>
            <a:normAutofit/>
          </a:bodyPr>
          <a:lstStyle/>
          <a:p>
            <a:r>
              <a:rPr lang="en-AU" sz="1800" b="0" dirty="0"/>
              <a:t>Federated Averaging (</a:t>
            </a:r>
            <a:r>
              <a:rPr lang="en-AU" sz="1800" b="0" dirty="0" err="1"/>
              <a:t>FedAvg</a:t>
            </a:r>
            <a:r>
              <a:rPr lang="en-AU" sz="1800" b="0" dirty="0"/>
              <a:t>) trains a shared model across distributed clients without exchanging raw data [3].</a:t>
            </a:r>
          </a:p>
          <a:p>
            <a:r>
              <a:rPr lang="en-AU" sz="1800" b="0" dirty="0"/>
              <a:t>Multiple local epochs before each averaging step reduce communication compared to gradient-level methods.</a:t>
            </a:r>
          </a:p>
          <a:p>
            <a:r>
              <a:rPr lang="en-AU" sz="1800" b="0" dirty="0"/>
              <a:t>Convergence is not guaranteed when client data is non-IID.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80622E-AF22-7497-3FC4-8B96C097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 anchor="t">
            <a:normAutofit/>
          </a:bodyPr>
          <a:lstStyle/>
          <a:p>
            <a:r>
              <a:rPr lang="en-AU" sz="3300" err="1"/>
              <a:t>FedAvg</a:t>
            </a:r>
            <a:endParaRPr lang="en-AU" sz="3300"/>
          </a:p>
        </p:txBody>
      </p:sp>
      <p:pic>
        <p:nvPicPr>
          <p:cNvPr id="9" name="Picture Placeholder 8" descr="The image depicts a series of server racks with cables connecting various components, including a monitor, to illustrate a network setup.&#10;&#10;AI-generated content may be incorrect.">
            <a:extLst>
              <a:ext uri="{FF2B5EF4-FFF2-40B4-BE49-F238E27FC236}">
                <a16:creationId xmlns:a16="http://schemas.microsoft.com/office/drawing/2014/main" id="{0BF07568-1E77-1330-C2E8-9A46B76A716D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2"/>
          <a:stretch>
            <a:fillRect/>
          </a:stretch>
        </p:blipFill>
        <p:spPr>
          <a:xfrm>
            <a:off x="5447928" y="1364400"/>
            <a:ext cx="5520435" cy="4126526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DFF77-771E-0897-D89E-262B94CBC6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018165-CC2C-18D7-DAE9-4D80851F1E7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AU" sz="1000" dirty="0">
                <a:solidFill>
                  <a:srgbClr val="666666"/>
                </a:solidFill>
              </a:rPr>
              <a:t>[3] McMahan et al., AISTATS 2017</a:t>
            </a:r>
          </a:p>
        </p:txBody>
      </p:sp>
    </p:spTree>
    <p:extLst>
      <p:ext uri="{BB962C8B-B14F-4D97-AF65-F5344CB8AC3E}">
        <p14:creationId xmlns:p14="http://schemas.microsoft.com/office/powerpoint/2010/main" val="104927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9CAE-5597-9404-E7F2-16EAF5D1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7ED2FD-7450-C453-FDC2-5FE20923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 anchor="t">
            <a:normAutofit/>
          </a:bodyPr>
          <a:lstStyle/>
          <a:p>
            <a:r>
              <a:rPr lang="en-AU"/>
              <a:t>The Non-IID Problem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DFDDFE-199F-7CD8-0010-0D62308C05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425" y="1884112"/>
            <a:ext cx="5616576" cy="506132"/>
          </a:xfrm>
        </p:spPr>
        <p:txBody>
          <a:bodyPr>
            <a:normAutofit/>
          </a:bodyPr>
          <a:lstStyle/>
          <a:p>
            <a:r>
              <a:rPr lang="en-AU" dirty="0"/>
              <a:t>Different client distributions cause local models to drift apart</a:t>
            </a:r>
          </a:p>
        </p:txBody>
      </p:sp>
      <p:pic>
        <p:nvPicPr>
          <p:cNvPr id="10" name="Picture 9" descr="FedProx&#10;&#10;AI-generated content may be incorrect.">
            <a:extLst>
              <a:ext uri="{FF2B5EF4-FFF2-40B4-BE49-F238E27FC236}">
                <a16:creationId xmlns:a16="http://schemas.microsoft.com/office/drawing/2014/main" id="{ED886223-ADBC-78E6-D0B4-72D919C8D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37" y="2644516"/>
            <a:ext cx="5616575" cy="2962743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BB67A9-F3C4-0B9B-1569-D7809E7D2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032" y="1884112"/>
            <a:ext cx="4895977" cy="43293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1500" dirty="0"/>
              <a:t>What it means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Each client’s data is drawn from a different distribution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Common forms: label skew, quantity skew, feature skew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sz="1500" b="0" dirty="0"/>
          </a:p>
          <a:p>
            <a:pPr>
              <a:lnSpc>
                <a:spcPct val="90000"/>
              </a:lnSpc>
            </a:pPr>
            <a:r>
              <a:rPr lang="en-AU" sz="1500" dirty="0"/>
              <a:t>Why </a:t>
            </a:r>
            <a:r>
              <a:rPr lang="en-AU" sz="1500" dirty="0" err="1"/>
              <a:t>FedAvg</a:t>
            </a:r>
            <a:r>
              <a:rPr lang="en-AU" sz="1500" dirty="0"/>
              <a:t> struggles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Local SGD pulls each model toward a different optimum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Averaging divergent updates can make divergence worse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No mechanism limits how far local models drift</a:t>
            </a:r>
          </a:p>
          <a:p>
            <a:pPr>
              <a:lnSpc>
                <a:spcPct val="90000"/>
              </a:lnSpc>
            </a:pPr>
            <a:endParaRPr lang="en-AU" sz="15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sz="1500" b="0" dirty="0"/>
          </a:p>
          <a:p>
            <a:pPr>
              <a:lnSpc>
                <a:spcPct val="90000"/>
              </a:lnSpc>
            </a:pPr>
            <a:endParaRPr lang="en-AU" sz="1500" b="0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3FE6A182-5722-B754-698D-2588E43DE71D}"/>
              </a:ext>
            </a:extLst>
          </p:cNvPr>
          <p:cNvSpPr txBox="1"/>
          <p:nvPr/>
        </p:nvSpPr>
        <p:spPr>
          <a:xfrm>
            <a:off x="-312712" y="5427752"/>
            <a:ext cx="70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AU" sz="1400" b="1" dirty="0">
                <a:solidFill>
                  <a:srgbClr val="4B2D7F"/>
                </a:solidFill>
              </a:rPr>
              <a:t>FedAvg drift (left) vs FedProx constraint (right)</a:t>
            </a:r>
          </a:p>
          <a:p>
            <a:pPr algn="ctr"/>
            <a:r>
              <a:rPr lang="en-AU" sz="1200" dirty="0"/>
              <a:t>Proximal term (μ-weighted) penalises deviation from the global model </a:t>
            </a:r>
          </a:p>
          <a:p>
            <a:pPr algn="ctr"/>
            <a:r>
              <a:rPr lang="en-AU" sz="1200" dirty="0"/>
              <a:t>and gives convergence guarantees [4]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EDD7A-8750-3F96-F6FA-E5100371665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D94A81C-BF9B-C23A-BE9E-5E7E71D87E8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AU" sz="1000" dirty="0">
                <a:solidFill>
                  <a:srgbClr val="666666"/>
                </a:solidFill>
              </a:rPr>
              <a:t>[4] Li et al., MLSys 2020</a:t>
            </a:r>
          </a:p>
        </p:txBody>
      </p:sp>
    </p:spTree>
    <p:extLst>
      <p:ext uri="{BB962C8B-B14F-4D97-AF65-F5344CB8AC3E}">
        <p14:creationId xmlns:p14="http://schemas.microsoft.com/office/powerpoint/2010/main" val="38905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CD3C3-75B5-0D08-BE0C-9707CFFB0E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sz="2000" dirty="0"/>
              <a:t>Federated learning on multi-class skin disease classification</a:t>
            </a:r>
          </a:p>
          <a:p>
            <a:pPr lvl="2"/>
            <a:r>
              <a:rPr lang="en-AU" sz="1800" dirty="0"/>
              <a:t>Most medical FL work targets binary or few-class radiology and pathology tasks; fine-grained skin disease classification is not well studied</a:t>
            </a:r>
          </a:p>
          <a:p>
            <a:pPr lvl="2"/>
            <a:endParaRPr lang="en-AU" sz="1800" dirty="0"/>
          </a:p>
          <a:p>
            <a:r>
              <a:rPr lang="en-AU" sz="2000" dirty="0" err="1"/>
              <a:t>FedAvg</a:t>
            </a:r>
            <a:r>
              <a:rPr lang="en-AU" sz="2000" dirty="0"/>
              <a:t> vs </a:t>
            </a:r>
            <a:r>
              <a:rPr lang="en-AU" sz="2000" dirty="0" err="1"/>
              <a:t>FedProx</a:t>
            </a:r>
            <a:r>
              <a:rPr lang="en-AU" sz="2000" dirty="0"/>
              <a:t> under realistic non-IID conditions</a:t>
            </a:r>
          </a:p>
          <a:p>
            <a:pPr lvl="2"/>
            <a:r>
              <a:rPr lang="en-AU" sz="1800" dirty="0"/>
              <a:t>Direct comparisons on medical image data with realistic class imbalance and label skew remain scarce</a:t>
            </a:r>
          </a:p>
          <a:p>
            <a:pPr lvl="2"/>
            <a:endParaRPr lang="en-AU" sz="1800" dirty="0"/>
          </a:p>
          <a:p>
            <a:r>
              <a:rPr lang="en-AU" sz="2000" dirty="0"/>
              <a:t>Practical trade-offs</a:t>
            </a:r>
          </a:p>
          <a:p>
            <a:pPr lvl="2"/>
            <a:r>
              <a:rPr lang="en-AU" sz="1800" dirty="0"/>
              <a:t>Existing studies report accuracy but rarely evaluate communication cost and per-class performance alongside non-IID sensitivity</a:t>
            </a:r>
          </a:p>
          <a:p>
            <a:endParaRPr lang="en-AU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932825-1320-3E12-4169-D586BD78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Knowledge Gap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21B3BB-CA00-2E87-701E-958DDA390A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1FDFF-95B8-B45A-0CD7-A352528F63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861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CD3C3-75B5-0D08-BE0C-9707CFFB0E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sz="2000" dirty="0"/>
              <a:t>Where does FedProx beat FedAvg, and by how much?</a:t>
            </a:r>
          </a:p>
          <a:p>
            <a:pPr lvl="2"/>
            <a:r>
              <a:rPr lang="en-AU" sz="1800" dirty="0"/>
              <a:t>Dirichlet α from extreme skew to near-IID; measure where the proximal term actually pays off</a:t>
            </a:r>
          </a:p>
          <a:p>
            <a:pPr lvl="2"/>
            <a:endParaRPr lang="en-AU" sz="1800" dirty="0"/>
          </a:p>
          <a:p>
            <a:r>
              <a:rPr lang="en-AU" sz="2000" dirty="0"/>
              <a:t>What does federated learning cost?</a:t>
            </a:r>
          </a:p>
          <a:p>
            <a:pPr lvl="2"/>
            <a:r>
              <a:rPr lang="en-AU" sz="1800" dirty="0"/>
              <a:t>Communication rounds and parameter volume to reach centralised baseline accuracy</a:t>
            </a:r>
          </a:p>
          <a:p>
            <a:pPr lvl="2"/>
            <a:endParaRPr lang="en-AU" sz="1800" dirty="0"/>
          </a:p>
          <a:p>
            <a:r>
              <a:rPr lang="en-AU" sz="2000" dirty="0"/>
              <a:t>Where does federated learning fail first?</a:t>
            </a:r>
          </a:p>
          <a:p>
            <a:pPr lvl="2"/>
            <a:r>
              <a:rPr lang="en-AU" sz="1800" dirty="0"/>
              <a:t>Whether overall accuracy or minority-class performance degrades earlier under heterogeneity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932825-1320-3E12-4169-D586BD78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Aim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21B3BB-CA00-2E87-701E-958DDA390A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AU" dirty="0"/>
              <a:t>Three questions this thesis is structured to answer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FD15A-AD51-0384-5E7D-EDD2822B50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699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78B2-2EBE-BDD8-0E6A-8AA3EF3E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8A61C-E458-0EB7-5DDE-D9E18E3421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AU" dirty="0"/>
              <a:t>02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51AE2-FD0A-9993-CDFF-23F8201403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791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Progress: Datasets &amp; Sampling</a:t>
            </a:r>
          </a:p>
        </p:txBody>
      </p:sp>
      <p:sp>
        <p:nvSpPr>
          <p:cNvPr id="6" name="Right Caption"/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r>
              <a:rPr lang="en-AU" sz="1400" dirty="0"/>
              <a:t>Balanced: 263k images / 35 classes (sampled to 17.5k) [5]</a:t>
            </a:r>
          </a:p>
        </p:txBody>
      </p:sp>
      <p:pic>
        <p:nvPicPr>
          <p:cNvPr id="7" name="Balanced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677" y="2703338"/>
            <a:ext cx="5312503" cy="36784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8DA5FF-C5E8-373D-C80C-0FF87D08FD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CE6FED-B8A4-1EBF-0E60-BE51CCE2CF3C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r>
              <a:rPr lang="en-US" dirty="0"/>
              <a:t>Sample Images</a:t>
            </a:r>
            <a:endParaRPr lang="en-AU" dirty="0"/>
          </a:p>
        </p:txBody>
      </p:sp>
      <p:pic>
        <p:nvPicPr>
          <p:cNvPr id="10" name="Picture 9" descr="The image depicts a close-up view of a human leg with visible patches of mild acne on the skin.&#10;&#10;AI-generated content may be incorrect.">
            <a:extLst>
              <a:ext uri="{FF2B5EF4-FFF2-40B4-BE49-F238E27FC236}">
                <a16:creationId xmlns:a16="http://schemas.microsoft.com/office/drawing/2014/main" id="{D8ADE3A4-8F58-B056-D527-8790408AD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20" y="2567479"/>
            <a:ext cx="2650852" cy="1767235"/>
          </a:xfrm>
          <a:prstGeom prst="rect">
            <a:avLst/>
          </a:prstGeom>
        </p:spPr>
      </p:pic>
      <p:pic>
        <p:nvPicPr>
          <p:cNvPr id="11" name="Picture 10" descr="The image shows a small, raised, reddened patch of skin, likely a rash or irritation, on the subject's abdomen.&#10;&#10;AI-generated content may be incorrect.">
            <a:extLst>
              <a:ext uri="{FF2B5EF4-FFF2-40B4-BE49-F238E27FC236}">
                <a16:creationId xmlns:a16="http://schemas.microsoft.com/office/drawing/2014/main" id="{107AB4C0-5C6C-9338-5A5A-DEF8F44EA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672" y="2567479"/>
            <a:ext cx="2133600" cy="2133600"/>
          </a:xfrm>
          <a:prstGeom prst="rect">
            <a:avLst/>
          </a:prstGeom>
        </p:spPr>
      </p:pic>
      <p:pic>
        <p:nvPicPr>
          <p:cNvPr id="12" name="Picture 11" descr="The image shows a close-up of a human skin patch with a distinct, irregularly shaped dark spot, possibly a pigmented mole.&#10;&#10;AI-generated content may be incorrect.">
            <a:extLst>
              <a:ext uri="{FF2B5EF4-FFF2-40B4-BE49-F238E27FC236}">
                <a16:creationId xmlns:a16="http://schemas.microsoft.com/office/drawing/2014/main" id="{BA7293F1-EF97-B20D-1308-512F66BC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1" y="4340881"/>
            <a:ext cx="2315781" cy="2315781"/>
          </a:xfrm>
          <a:prstGeom prst="rect">
            <a:avLst/>
          </a:prstGeom>
        </p:spPr>
      </p:pic>
      <p:pic>
        <p:nvPicPr>
          <p:cNvPr id="13" name="Picture 12" descr="The image shows a spot of discoloration on a light-skinned area.&#10;&#10;AI-generated content may be incorrect.">
            <a:extLst>
              <a:ext uri="{FF2B5EF4-FFF2-40B4-BE49-F238E27FC236}">
                <a16:creationId xmlns:a16="http://schemas.microsoft.com/office/drawing/2014/main" id="{433DA767-144A-73A2-5927-A97ABECCD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672" y="4701079"/>
            <a:ext cx="1872208" cy="1872208"/>
          </a:xfrm>
          <a:prstGeom prst="rect">
            <a:avLst/>
          </a:prstGeom>
        </p:spPr>
      </p:pic>
      <p:sp>
        <p:nvSpPr>
          <p:cNvPr id="3" name="DatasetCite">
            <a:extLst>
              <a:ext uri="{FF2B5EF4-FFF2-40B4-BE49-F238E27FC236}">
                <a16:creationId xmlns:a16="http://schemas.microsoft.com/office/drawing/2014/main" id="{A66A8DED-E06F-81CA-8EE3-C0880A1B4653}"/>
              </a:ext>
            </a:extLst>
          </p:cNvPr>
          <p:cNvSpPr txBox="1"/>
          <p:nvPr/>
        </p:nvSpPr>
        <p:spPr>
          <a:xfrm>
            <a:off x="7331661" y="6516662"/>
            <a:ext cx="11233152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AU" sz="1000" dirty="0"/>
              <a:t>[5] muhammadabdulsami, "Massive Skin Disease Balanced Dataset", Kaggle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2BB52-6010-7683-82CE-4EA3A46917F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AU" dirty="0"/>
              <a:t>Progress: Centralised Baseline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>
              <a:buNone/>
            </a:pPr>
            <a:r>
              <a:rPr lang="en-AU" dirty="0"/>
              <a:t>Working pipeline; first baseline trained on the balanced sample</a:t>
            </a:r>
          </a:p>
        </p:txBody>
      </p:sp>
      <p:sp>
        <p:nvSpPr>
          <p:cNvPr id="4" name="Setup Pullout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buNone/>
            </a:pPr>
            <a:r>
              <a:rPr lang="en-AU" sz="1800" b="1" dirty="0"/>
              <a:t>SETUP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dirty="0"/>
              <a:t>ResNet on the balanced sample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dirty="0"/>
              <a:t>17,500 images / 35 classes</a:t>
            </a:r>
          </a:p>
          <a:p>
            <a:pPr>
              <a:buNone/>
            </a:pPr>
            <a:r>
              <a:rPr lang="en-AU" dirty="0"/>
              <a:t>10 epochs</a:t>
            </a:r>
          </a:p>
        </p:txBody>
      </p:sp>
      <p:sp>
        <p:nvSpPr>
          <p:cNvPr id="5" name="Results Pullout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>
              <a:buNone/>
            </a:pPr>
            <a:r>
              <a:rPr lang="en-AU" sz="1800" b="1" dirty="0"/>
              <a:t>TEST RESULTS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sz="4400" b="1" dirty="0"/>
              <a:t>57.6%</a:t>
            </a:r>
          </a:p>
          <a:p>
            <a:pPr>
              <a:buNone/>
            </a:pPr>
            <a:r>
              <a:rPr lang="en-AU" dirty="0"/>
              <a:t>Top-1 accuracy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dirty="0"/>
              <a:t>Macro F1: 0.569</a:t>
            </a:r>
          </a:p>
          <a:p>
            <a:pPr>
              <a:buNone/>
            </a:pPr>
            <a:r>
              <a:rPr lang="en-AU" dirty="0"/>
              <a:t>Test loss: 1.44</a:t>
            </a:r>
          </a:p>
        </p:txBody>
      </p:sp>
      <p:sp>
        <p:nvSpPr>
          <p:cNvPr id="6" name="Context Pullout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buNone/>
            </a:pPr>
            <a:r>
              <a:rPr lang="en-AU" sz="1800" b="1" dirty="0"/>
              <a:t>CONTEXT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dirty="0"/>
              <a:t>~20× random (1/35 = 2.9%)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dirty="0"/>
              <a:t>In line with literature for 30+ class fine-grained skin tasks (50–65%)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b="1" dirty="0"/>
              <a:t>Next: Dirichlet sampling, </a:t>
            </a:r>
            <a:r>
              <a:rPr lang="en-AU" b="1" dirty="0" err="1"/>
              <a:t>FedAvg</a:t>
            </a:r>
            <a:endParaRPr lang="en-AU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43A8E-2415-FEBA-E35E-968AE9B0B67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12</a:t>
            </a:fld>
            <a:endParaRPr lang="en-A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Progress: Dirichlet Sampling [6]</a:t>
            </a:r>
          </a:p>
        </p:txBody>
      </p:sp>
      <p:sp>
        <p:nvSpPr>
          <p:cNvPr id="11" name="Caption 1"/>
          <p:cNvSpPr txBox="1"/>
          <p:nvPr/>
        </p:nvSpPr>
        <p:spPr>
          <a:xfrm>
            <a:off x="8617958" y="1621879"/>
            <a:ext cx="3083720" cy="14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AU" sz="2000" b="1" dirty="0">
                <a:solidFill>
                  <a:srgbClr val="4B2D7F"/>
                </a:solidFill>
              </a:rPr>
              <a:t>α = 0.1 — extreme skew</a:t>
            </a:r>
          </a:p>
          <a:p>
            <a:pPr>
              <a:buNone/>
            </a:pPr>
            <a:r>
              <a:rPr lang="en-AU" sz="1400" dirty="0"/>
              <a:t>122 / 280 cells empty; smallest client 334 </a:t>
            </a:r>
            <a:r>
              <a:rPr lang="en-AU" sz="1400" dirty="0" err="1"/>
              <a:t>imgs</a:t>
            </a:r>
            <a:endParaRPr lang="en-AU" sz="1400" dirty="0"/>
          </a:p>
        </p:txBody>
      </p:sp>
      <p:sp>
        <p:nvSpPr>
          <p:cNvPr id="13" name="Caption 2"/>
          <p:cNvSpPr txBox="1"/>
          <p:nvPr/>
        </p:nvSpPr>
        <p:spPr>
          <a:xfrm>
            <a:off x="8646411" y="2924944"/>
            <a:ext cx="3083720" cy="14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AU" sz="2000" b="1" dirty="0">
                <a:solidFill>
                  <a:srgbClr val="4B2D7F"/>
                </a:solidFill>
              </a:rPr>
              <a:t>α = 0.5 — realistic skew</a:t>
            </a:r>
          </a:p>
          <a:p>
            <a:pPr>
              <a:buNone/>
            </a:pPr>
            <a:r>
              <a:rPr lang="en-AU" sz="1400" dirty="0"/>
              <a:t>12 / 280 cells empty; smallest client 1,678 </a:t>
            </a:r>
            <a:r>
              <a:rPr lang="en-AU" sz="1400" dirty="0" err="1"/>
              <a:t>imgs</a:t>
            </a:r>
            <a:endParaRPr lang="en-AU" sz="1400" dirty="0"/>
          </a:p>
        </p:txBody>
      </p:sp>
      <p:sp>
        <p:nvSpPr>
          <p:cNvPr id="15" name="Caption 3"/>
          <p:cNvSpPr txBox="1"/>
          <p:nvPr/>
        </p:nvSpPr>
        <p:spPr>
          <a:xfrm>
            <a:off x="8676542" y="4395767"/>
            <a:ext cx="3053589" cy="14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AU" sz="2000" b="1" dirty="0">
                <a:solidFill>
                  <a:srgbClr val="4B2D7F"/>
                </a:solidFill>
              </a:rPr>
              <a:t>α = 1.0 — near-IID</a:t>
            </a:r>
          </a:p>
          <a:p>
            <a:pPr>
              <a:buNone/>
            </a:pPr>
            <a:r>
              <a:rPr lang="en-AU" sz="1400" dirty="0"/>
              <a:t>4 / 280 cells empty; smallest client 1,645 </a:t>
            </a:r>
            <a:r>
              <a:rPr lang="en-AU" sz="1400" dirty="0" err="1"/>
              <a:t>imgs</a:t>
            </a:r>
            <a:endParaRPr lang="en-AU" sz="1400" dirty="0"/>
          </a:p>
        </p:txBody>
      </p:sp>
      <p:pic>
        <p:nvPicPr>
          <p:cNvPr id="6" name="Picture 5" descr="The image is a bar chart showing the frequency of various skin conditions, with some having zero occurrences.&#10;&#10;AI-generated content may be incorrect.">
            <a:extLst>
              <a:ext uri="{FF2B5EF4-FFF2-40B4-BE49-F238E27FC236}">
                <a16:creationId xmlns:a16="http://schemas.microsoft.com/office/drawing/2014/main" id="{622F4EFB-71FC-044B-A985-81CBE256E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784"/>
            <a:ext cx="8512892" cy="5015216"/>
          </a:xfrm>
          <a:prstGeom prst="rect">
            <a:avLst/>
          </a:prstGeom>
        </p:spPr>
      </p:pic>
      <p:sp>
        <p:nvSpPr>
          <p:cNvPr id="3" name="DirichletCite">
            <a:extLst>
              <a:ext uri="{FF2B5EF4-FFF2-40B4-BE49-F238E27FC236}">
                <a16:creationId xmlns:a16="http://schemas.microsoft.com/office/drawing/2014/main" id="{87E42C37-7EE0-5A31-74CE-ED172E4C7626}"/>
              </a:ext>
            </a:extLst>
          </p:cNvPr>
          <p:cNvSpPr txBox="1"/>
          <p:nvPr/>
        </p:nvSpPr>
        <p:spPr>
          <a:xfrm>
            <a:off x="479425" y="6500000"/>
            <a:ext cx="65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AU" sz="1000" dirty="0"/>
              <a:t>[6] Hsu, Qi, Brown, arXiv 2019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1FD1B-F465-AEBD-77AC-831CD202661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13</a:t>
            </a:fld>
            <a:endParaRPr lang="en-A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Next Steps</a:t>
            </a:r>
          </a:p>
        </p:txBody>
      </p:sp>
      <p:sp>
        <p:nvSpPr>
          <p:cNvPr id="10" name="N1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AU" dirty="0"/>
              <a:t>01</a:t>
            </a:r>
          </a:p>
        </p:txBody>
      </p:sp>
      <p:sp>
        <p:nvSpPr>
          <p:cNvPr id="11" name="N1H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AU" dirty="0"/>
              <a:t>Baseline</a:t>
            </a:r>
          </a:p>
        </p:txBody>
      </p:sp>
      <p:sp>
        <p:nvSpPr>
          <p:cNvPr id="12" name="N1B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AU" dirty="0"/>
              <a:t>Re-run on full datasets, longer training; locks the upper bound for FL comparisons</a:t>
            </a:r>
          </a:p>
        </p:txBody>
      </p:sp>
      <p:sp>
        <p:nvSpPr>
          <p:cNvPr id="20" name="N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AU" dirty="0"/>
              <a:t>02</a:t>
            </a:r>
          </a:p>
        </p:txBody>
      </p:sp>
      <p:sp>
        <p:nvSpPr>
          <p:cNvPr id="21" name="N2H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AU" dirty="0"/>
              <a:t>FedAvg</a:t>
            </a:r>
          </a:p>
        </p:txBody>
      </p:sp>
      <p:sp>
        <p:nvSpPr>
          <p:cNvPr id="22" name="N2B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AU" dirty="0"/>
              <a:t>Local SGD + weighted parameter aggregation across 8 simulated clients; first run at α = 1.0</a:t>
            </a:r>
          </a:p>
        </p:txBody>
      </p:sp>
      <p:sp>
        <p:nvSpPr>
          <p:cNvPr id="30" name="N3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AU" dirty="0"/>
              <a:t>03</a:t>
            </a:r>
          </a:p>
        </p:txBody>
      </p:sp>
      <p:sp>
        <p:nvSpPr>
          <p:cNvPr id="31" name="N3H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AU" dirty="0"/>
              <a:t>FedProx</a:t>
            </a:r>
          </a:p>
        </p:txBody>
      </p:sp>
      <p:sp>
        <p:nvSpPr>
          <p:cNvPr id="32" name="N3B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AU" dirty="0"/>
              <a:t>Add proximal term; sweep α = 0.1, 0.5, 1.0 for both methods; tune μ</a:t>
            </a:r>
          </a:p>
        </p:txBody>
      </p:sp>
      <p:sp>
        <p:nvSpPr>
          <p:cNvPr id="40" name="N4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AU" dirty="0"/>
              <a:t>04</a:t>
            </a:r>
          </a:p>
        </p:txBody>
      </p:sp>
      <p:sp>
        <p:nvSpPr>
          <p:cNvPr id="41" name="N4H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AU" dirty="0"/>
              <a:t>Evaluation</a:t>
            </a:r>
          </a:p>
        </p:txBody>
      </p:sp>
      <p:sp>
        <p:nvSpPr>
          <p:cNvPr id="42" name="N4B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AU" dirty="0"/>
              <a:t>Accuracy + macro F1 + communication rounds vs α; multiple seeds for statistical confidence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96030-7728-3FAF-CF6A-CA1A7979A7B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1D683-BD07-1FAB-1EC5-86537D06D182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14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32" grpId="0" build="p"/>
      <p:bldP spid="4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</a:t>
            </a:r>
          </a:p>
        </p:txBody>
      </p:sp>
      <p:sp>
        <p:nvSpPr>
          <p:cNvPr id="4" name="LeftBody"/>
          <p:cNvSpPr>
            <a:spLocks noGrp="1"/>
          </p:cNvSpPr>
          <p:nvPr>
            <p:ph idx="1"/>
          </p:nvPr>
        </p:nvSpPr>
        <p:spPr>
          <a:xfrm>
            <a:off x="479425" y="2304629"/>
            <a:ext cx="5616575" cy="3075932"/>
          </a:xfrm>
        </p:spPr>
        <p:txBody>
          <a:bodyPr/>
          <a:lstStyle/>
          <a:p>
            <a:r>
              <a:rPr lang="en-AU" dirty="0"/>
              <a:t>Multi-class skin disease classification across hospitals is privacy-constrained; FedAvg breaks under non-IID, </a:t>
            </a:r>
            <a:r>
              <a:rPr lang="en-AU" dirty="0" err="1"/>
              <a:t>FedProx</a:t>
            </a:r>
            <a:r>
              <a:rPr lang="en-AU" dirty="0"/>
              <a:t> is proposed</a:t>
            </a:r>
          </a:p>
          <a:p>
            <a:r>
              <a:rPr lang="en-AU" dirty="0"/>
              <a:t>Both datasets characterised; sampling pipeline preserves class structure within 0.4%</a:t>
            </a:r>
          </a:p>
          <a:p>
            <a:r>
              <a:rPr lang="en-AU" dirty="0"/>
              <a:t>Centralised baseline running end-to-end; Dirichlet partitioning validated across α = 0.1, 0.5, 1.0</a:t>
            </a:r>
          </a:p>
        </p:txBody>
      </p:sp>
      <p:sp>
        <p:nvSpPr>
          <p:cNvPr id="5" name="RightBlockText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None/>
            </a:pPr>
            <a:r>
              <a:rPr lang="en-AU" sz="2400" b="1" dirty="0"/>
              <a:t>By the end of Semester 2: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sz="1800" dirty="0"/>
              <a:t>An answer to where FedProx beats FedAvg, by how much, and at what communication cost for fine-grained skin disease classification under realistic non-IID conditions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sz="2400" b="1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9D9BF-4650-369B-4621-3975509B24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15</a:t>
            </a:fld>
            <a:endParaRPr lang="en-A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626486-1738-2B72-B465-29A7CDD9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AU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D2FE555-E5A9-D7E3-EB46-E12A053CB4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556792"/>
            <a:ext cx="11233149" cy="4126526"/>
          </a:xfrm>
        </p:spPr>
        <p:txBody>
          <a:bodyPr wrap="square"/>
          <a:lstStyle/>
          <a:p>
            <a:r>
              <a:rPr lang="en-AU" sz="1400" b="0" dirty="0"/>
              <a:t>[1] R. J. Hay, N. E. Johns, H. C. Williams, I. W. Bolliger, R. P. Dellavalle, D. J. Margolis, R. Marks, L. Naldi, M. A. Weinstock, S. K. Wulf, C. 	Michaud, C. J L Murray, and M. </a:t>
            </a:r>
            <a:r>
              <a:rPr lang="en-AU" sz="1400" b="0" dirty="0" err="1"/>
              <a:t>Naghavi</a:t>
            </a:r>
            <a:r>
              <a:rPr lang="en-AU" sz="1400" b="0" dirty="0"/>
              <a:t>, “The global burden of skin disease in 2010: An analysis of the prevalence and impact of 	skin conditions,” The Journal of Investigative Dermatology, vol. 134, pp. 1527–1534, June 2014</a:t>
            </a:r>
          </a:p>
          <a:p>
            <a:r>
              <a:rPr lang="en-AU" sz="1400" b="0" dirty="0"/>
              <a:t>[2] A. Esteva, B. </a:t>
            </a:r>
            <a:r>
              <a:rPr lang="en-AU" sz="1400" b="0" dirty="0" err="1"/>
              <a:t>Kuprel</a:t>
            </a:r>
            <a:r>
              <a:rPr lang="en-AU" sz="1400" b="0" dirty="0"/>
              <a:t>, R. A. Novoa, J. Ko, S. M. </a:t>
            </a:r>
            <a:r>
              <a:rPr lang="en-AU" sz="1400" b="0" dirty="0" err="1"/>
              <a:t>Swetter</a:t>
            </a:r>
            <a:r>
              <a:rPr lang="en-AU" sz="1400" b="0" dirty="0"/>
              <a:t>, H. M. Blau, and S. Thrun, “Dermatologist-level classification of skin cancer with 	deep neural networks,” Nature, vol. 542, pp. 115–118, Feb. 2017.</a:t>
            </a:r>
            <a:br>
              <a:rPr lang="en-AU" sz="1400" b="0" dirty="0"/>
            </a:br>
            <a:endParaRPr lang="en-AU" sz="1400" b="0" dirty="0"/>
          </a:p>
          <a:p>
            <a:r>
              <a:rPr lang="en-AU" sz="1400" b="0" dirty="0"/>
              <a:t>[3] </a:t>
            </a:r>
            <a:r>
              <a:rPr lang="en-US" sz="1400" b="0" dirty="0"/>
              <a:t>H. B. McMahan, E. Moore, D. Ramage, S. Hampson, and B. A. y </a:t>
            </a:r>
            <a:r>
              <a:rPr lang="en-US" sz="1400" b="0" dirty="0" err="1"/>
              <a:t>Ar</a:t>
            </a:r>
            <a:r>
              <a:rPr lang="en-US" sz="1400" b="0" dirty="0"/>
              <a:t> </a:t>
            </a:r>
            <a:r>
              <a:rPr lang="en-US" sz="1400" b="0" dirty="0" err="1"/>
              <a:t>cas</a:t>
            </a:r>
            <a:r>
              <a:rPr lang="en-US" sz="1400" b="0" dirty="0"/>
              <a:t>, “Communication-Efficient Learning of Deep Networks from 	Decentralized Data,” Jan. 2023.</a:t>
            </a:r>
          </a:p>
          <a:p>
            <a:r>
              <a:rPr lang="en-US" sz="1400" b="0" dirty="0"/>
              <a:t>[4] </a:t>
            </a:r>
            <a:r>
              <a:rPr lang="en-AU" sz="1400" b="0" dirty="0"/>
              <a:t>T. Li, A. K. Sahu, M. Zaheer, M. Sanjabi, A. Talwalkar, and V. Smith, “Fed </a:t>
            </a:r>
            <a:r>
              <a:rPr lang="en-AU" sz="1400" b="0" dirty="0" err="1"/>
              <a:t>erated</a:t>
            </a:r>
            <a:r>
              <a:rPr lang="en-AU" sz="1400" b="0" dirty="0"/>
              <a:t> Optimization in Heterogeneous Networks,” Apr. 2020.</a:t>
            </a:r>
          </a:p>
          <a:p>
            <a:r>
              <a:rPr lang="en-AU" sz="1400" b="0" dirty="0"/>
              <a:t>[5] “Massive skin disease balanced dataset.” https://www.kaggle.com/ datasets/</a:t>
            </a:r>
            <a:r>
              <a:rPr lang="en-AU" sz="1400" b="0" dirty="0" err="1"/>
              <a:t>muhammadabdulsami</a:t>
            </a:r>
            <a:r>
              <a:rPr lang="en-AU" sz="1400" b="0" dirty="0"/>
              <a:t>/massive-skin-disease-balanced-dataset</a:t>
            </a:r>
          </a:p>
          <a:p>
            <a:r>
              <a:rPr lang="en-AU" sz="1400" b="0" dirty="0"/>
              <a:t>[6] </a:t>
            </a:r>
            <a:r>
              <a:rPr lang="en-US" sz="1400" b="0" dirty="0"/>
              <a:t>T.-M. H. Hsu, H. Qi, and M. Brown, “Measuring the Effects of Non-Identical Data Distribution for Federated Visual Classification,” Sept. 2019</a:t>
            </a:r>
            <a:endParaRPr lang="en-AU" sz="1400" b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BFC3DC-08E3-BF82-B251-0E27855093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551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8"/>
  <p:tag name="TPFULLVERSION" val="1.4.2.3"/>
  <p:tag name="TPOS" val="2"/>
  <p:tag name="TPLASTSAVEVERSION" val="6.2 PC"/>
  <p:tag name="TPLASTSAVEPRODUCT" val="EchoPoll for PowerPoint"/>
</p:tagLst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-PowerPoint-template" id="{77828F8A-DB63-0A4A-841F-23FA6B70F718}" vid="{CA0FB5E4-0CD0-9C43-BF98-9BFD66C680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11" ma:contentTypeDescription="Create a new document." ma:contentTypeScope="" ma:versionID="809c7c489742cc59092c7e14672c0936">
  <xsd:schema xmlns:xsd="http://www.w3.org/2001/XMLSchema" xmlns:xs="http://www.w3.org/2001/XMLSchema" xmlns:p="http://schemas.microsoft.com/office/2006/metadata/properties" xmlns:ns2="65b0f26f-95df-44cf-88fa-e9c7b5beb0cc" xmlns:ns3="94ba416d-00cf-4134-b72c-a9e48d8869bc" targetNamespace="http://schemas.microsoft.com/office/2006/metadata/properties" ma:root="true" ma:fieldsID="17d5b951cbaf3870d2415480a90000ca" ns2:_="" ns3:_="">
    <xsd:import namespace="65b0f26f-95df-44cf-88fa-e9c7b5beb0cc"/>
    <xsd:import namespace="94ba416d-00cf-4134-b72c-a9e48d8869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8babe79-dfb6-408c-aa7a-07abcf6a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a416d-00cf-4134-b72c-a9e48d8869bc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63c6236-0644-4670-bed4-78772fe61de4}" ma:internalName="TaxCatchAll" ma:showField="CatchAllData" ma:web="94ba416d-00cf-4134-b72c-a9e48d8869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b0f26f-95df-44cf-88fa-e9c7b5beb0cc">
      <Terms xmlns="http://schemas.microsoft.com/office/infopath/2007/PartnerControls"/>
    </lcf76f155ced4ddcb4097134ff3c332f>
    <TaxCatchAll xmlns="94ba416d-00cf-4134-b72c-a9e48d8869b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983A9A-9705-4EDC-B2E6-6B9030AAB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94ba416d-00cf-4134-b72c-a9e48d8869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  <ds:schemaRef ds:uri="65b0f26f-95df-44cf-88fa-e9c7b5beb0cc"/>
    <ds:schemaRef ds:uri="94ba416d-00cf-4134-b72c-a9e48d8869bc"/>
  </ds:schemaRefs>
</ds:datastoreItem>
</file>

<file path=customXml/itemProps3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01-PowerPoint-template</Template>
  <TotalTime>4702</TotalTime>
  <Words>1142</Words>
  <Application>Microsoft Office PowerPoint</Application>
  <PresentationFormat>Widescreen</PresentationFormat>
  <Paragraphs>153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DM Sans</vt:lpstr>
      <vt:lpstr>University of Queensland</vt:lpstr>
      <vt:lpstr>Privacy-Preserving Federated Learning for Distributed Skin Disease Classification</vt:lpstr>
      <vt:lpstr>Contents</vt:lpstr>
      <vt:lpstr>Definitions and Background</vt:lpstr>
      <vt:lpstr>Definitions</vt:lpstr>
      <vt:lpstr>Motivation</vt:lpstr>
      <vt:lpstr>FedAvg</vt:lpstr>
      <vt:lpstr>The Non-IID Problem</vt:lpstr>
      <vt:lpstr>Knowledge Gap</vt:lpstr>
      <vt:lpstr>Project Aim</vt:lpstr>
      <vt:lpstr>Progress</vt:lpstr>
      <vt:lpstr>Progress: Datasets &amp; Sampling</vt:lpstr>
      <vt:lpstr>Progress: Centralised Baseline</vt:lpstr>
      <vt:lpstr>Progress: Dirichlet Sampling [6]</vt:lpstr>
      <vt:lpstr>Next Steps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Monique Tourell</dc:creator>
  <cp:lastModifiedBy>Alex G</cp:lastModifiedBy>
  <cp:revision>15</cp:revision>
  <dcterms:created xsi:type="dcterms:W3CDTF">2026-04-29T04:27:02Z</dcterms:created>
  <dcterms:modified xsi:type="dcterms:W3CDTF">2026-05-14T01:48:53Z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  <property fmtid="{D5CDD505-2E9C-101B-9397-08002B2CF9AE}" pid="10" name="MediaServiceImageTags">
    <vt:lpwstr/>
  </property>
</Properties>
</file>